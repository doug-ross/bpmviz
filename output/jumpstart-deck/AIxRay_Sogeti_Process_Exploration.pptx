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AIxRay makes AI tangible using a shared view of a real process. Start with process evidence, business context, and workshop assumptions. Separate what is known from what needs validation. In the routine illustration, human-led coordination relies on manual handoffs, repeated checks, and rebuilding case context. The supervised AI and automation model validates context, proposes a fulfillment plan, retains explicit human authorization, executes physical work, reconciles events, and resolves issues with the right context. Explore cycle time, human effort, operating cost, and redeployable capacity using central estimates, planning ranges, and validation gaps. Approvals, permissions, audit evidence, and escalation stay visible. All modeled outcomes are directional and require validation. Ask the audience which process they would like to put under the AIxRay.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84632" y="187452"/>
            <a:ext cx="11228832" cy="416052"/>
          </a:xfrm>
          <a:prstGeom prst="rect">
            <a:avLst/>
          </a:prstGeom>
          <a:noFill/>
          <a:ln/>
        </p:spPr>
        <p:txBody>
          <a:bodyPr wrap="square" lIns="0" tIns="0" rIns="0" bIns="0" rtlCol="0" anchor="ctr">
            <a:normAutofit/>
          </a:bodyPr>
          <a:lstStyle/>
          <a:p>
            <a:pPr algn="l" indent="0" marL="0">
              <a:lnSpc>
                <a:spcPct val="96000"/>
              </a:lnSpc>
              <a:buNone/>
            </a:pPr>
            <a:r>
              <a:rPr lang="en-US" sz="2400" b="1" dirty="0">
                <a:solidFill>
                  <a:srgbClr val="2B0A3D"/>
                </a:solidFill>
                <a:latin typeface="Ubuntu Mono" pitchFamily="34" charset="0"/>
                <a:ea typeface="Ubuntu Mono" pitchFamily="34" charset="-122"/>
                <a:cs typeface="Ubuntu Mono" pitchFamily="34" charset="-120"/>
              </a:rPr>
              <a:t>AIxRay: See the process. Reimagine the possibilities.</a:t>
            </a:r>
            <a:endParaRPr lang="en-US" sz="2400" dirty="0"/>
          </a:p>
        </p:txBody>
      </p:sp>
      <p:sp>
        <p:nvSpPr>
          <p:cNvPr id="3" name="Text 1"/>
          <p:cNvSpPr txBox="1"/>
          <p:nvPr/>
        </p:nvSpPr>
        <p:spPr>
          <a:xfrm>
            <a:off x="493776" y="672084"/>
            <a:ext cx="11201400" cy="274320"/>
          </a:xfrm>
          <a:prstGeom prst="rect">
            <a:avLst/>
          </a:prstGeom>
          <a:noFill/>
          <a:ln/>
        </p:spPr>
        <p:txBody>
          <a:bodyPr wrap="square" lIns="0" tIns="0" rIns="0" bIns="0" rtlCol="0" anchor="ctr">
            <a:normAutofit/>
          </a:bodyPr>
          <a:lstStyle/>
          <a:p>
            <a:pPr algn="l" indent="0" marL="0">
              <a:lnSpc>
                <a:spcPct val="96000"/>
              </a:lnSpc>
              <a:buNone/>
            </a:pPr>
            <a:r>
              <a:rPr lang="en-US" sz="1210" dirty="0">
                <a:solidFill>
                  <a:srgbClr val="34343D"/>
                </a:solidFill>
                <a:latin typeface="Ubuntu Light" pitchFamily="34" charset="0"/>
                <a:ea typeface="Ubuntu Light" pitchFamily="34" charset="-122"/>
                <a:cs typeface="Ubuntu Light" pitchFamily="34" charset="-120"/>
              </a:rPr>
              <a:t>Make AI tangible through a shared view of today's work, tomorrow's design, and the assumptions behind the impact.</a:t>
            </a:r>
            <a:endParaRPr lang="en-US" sz="1210" dirty="0"/>
          </a:p>
        </p:txBody>
      </p:sp>
      <p:sp>
        <p:nvSpPr>
          <p:cNvPr id="4" name="Shape 2"/>
          <p:cNvSpPr/>
          <p:nvPr/>
        </p:nvSpPr>
        <p:spPr>
          <a:xfrm>
            <a:off x="484632" y="1031443"/>
            <a:ext cx="11228832" cy="0"/>
          </a:xfrm>
          <a:prstGeom prst="line">
            <a:avLst/>
          </a:prstGeom>
          <a:noFill/>
          <a:ln w="8255">
            <a:solidFill>
              <a:srgbClr val="DDDDE2"/>
            </a:solidFill>
            <a:prstDash val="solid"/>
            <a:headEnd type="none"/>
          </a:ln>
        </p:spPr>
      </p:sp>
      <p:sp>
        <p:nvSpPr>
          <p:cNvPr id="5" name="Text 3"/>
          <p:cNvSpPr txBox="1"/>
          <p:nvPr/>
        </p:nvSpPr>
        <p:spPr>
          <a:xfrm>
            <a:off x="3273552" y="1120140"/>
            <a:ext cx="1298448" cy="192024"/>
          </a:xfrm>
          <a:prstGeom prst="rect">
            <a:avLst/>
          </a:prstGeom>
          <a:noFill/>
          <a:ln/>
        </p:spPr>
        <p:txBody>
          <a:bodyPr wrap="square" lIns="0" tIns="0" rIns="0" bIns="0" rtlCol="0" anchor="ctr">
            <a:normAutofit/>
          </a:bodyPr>
          <a:lstStyle/>
          <a:p>
            <a:pPr algn="ctr" indent="0" marL="0">
              <a:lnSpc>
                <a:spcPct val="96000"/>
              </a:lnSpc>
              <a:buNone/>
            </a:pPr>
            <a:r>
              <a:rPr lang="en-US" sz="1140" b="1" dirty="0">
                <a:solidFill>
                  <a:srgbClr val="2B0A3D"/>
                </a:solidFill>
                <a:latin typeface="Ubuntu" pitchFamily="34" charset="0"/>
                <a:ea typeface="Ubuntu" pitchFamily="34" charset="-122"/>
                <a:cs typeface="Ubuntu" pitchFamily="34" charset="-120"/>
              </a:rPr>
              <a:t>UNDERSTAND</a:t>
            </a:r>
            <a:endParaRPr lang="en-US" sz="1140" dirty="0"/>
          </a:p>
        </p:txBody>
      </p:sp>
      <p:sp>
        <p:nvSpPr>
          <p:cNvPr id="6" name="Shape 4"/>
          <p:cNvSpPr/>
          <p:nvPr/>
        </p:nvSpPr>
        <p:spPr>
          <a:xfrm>
            <a:off x="4572000" y="1215238"/>
            <a:ext cx="411480" cy="0"/>
          </a:xfrm>
          <a:prstGeom prst="line">
            <a:avLst/>
          </a:prstGeom>
          <a:noFill/>
          <a:ln w="17145">
            <a:solidFill>
              <a:srgbClr val="0070AD"/>
            </a:solidFill>
            <a:prstDash val="solid"/>
            <a:headEnd type="none"/>
            <a:tailEnd type="triangle"/>
          </a:ln>
        </p:spPr>
      </p:sp>
      <p:sp>
        <p:nvSpPr>
          <p:cNvPr id="7" name="Text 5"/>
          <p:cNvSpPr txBox="1"/>
          <p:nvPr/>
        </p:nvSpPr>
        <p:spPr>
          <a:xfrm>
            <a:off x="5010912" y="1120140"/>
            <a:ext cx="1444752" cy="192024"/>
          </a:xfrm>
          <a:prstGeom prst="rect">
            <a:avLst/>
          </a:prstGeom>
          <a:noFill/>
          <a:ln/>
        </p:spPr>
        <p:txBody>
          <a:bodyPr wrap="square" lIns="0" tIns="0" rIns="0" bIns="0" rtlCol="0" anchor="ctr">
            <a:normAutofit/>
          </a:bodyPr>
          <a:lstStyle/>
          <a:p>
            <a:pPr algn="ctr" indent="0" marL="0">
              <a:lnSpc>
                <a:spcPct val="96000"/>
              </a:lnSpc>
              <a:buNone/>
            </a:pPr>
            <a:r>
              <a:rPr lang="en-US" sz="1140" b="1" dirty="0">
                <a:solidFill>
                  <a:srgbClr val="2B0A3D"/>
                </a:solidFill>
                <a:latin typeface="Ubuntu" pitchFamily="34" charset="0"/>
                <a:ea typeface="Ubuntu" pitchFamily="34" charset="-122"/>
                <a:cs typeface="Ubuntu" pitchFamily="34" charset="-120"/>
              </a:rPr>
              <a:t>REIMAGINE</a:t>
            </a:r>
            <a:endParaRPr lang="en-US" sz="1140" dirty="0"/>
          </a:p>
        </p:txBody>
      </p:sp>
      <p:sp>
        <p:nvSpPr>
          <p:cNvPr id="8" name="Shape 6"/>
          <p:cNvSpPr/>
          <p:nvPr/>
        </p:nvSpPr>
        <p:spPr>
          <a:xfrm>
            <a:off x="6483096" y="1215238"/>
            <a:ext cx="411480" cy="0"/>
          </a:xfrm>
          <a:prstGeom prst="line">
            <a:avLst/>
          </a:prstGeom>
          <a:noFill/>
          <a:ln w="17145">
            <a:solidFill>
              <a:srgbClr val="0070AD"/>
            </a:solidFill>
            <a:prstDash val="solid"/>
            <a:headEnd type="none"/>
            <a:tailEnd type="triangle"/>
          </a:ln>
        </p:spPr>
      </p:sp>
      <p:sp>
        <p:nvSpPr>
          <p:cNvPr id="9" name="Text 7"/>
          <p:cNvSpPr txBox="1"/>
          <p:nvPr/>
        </p:nvSpPr>
        <p:spPr>
          <a:xfrm>
            <a:off x="6949440" y="1120140"/>
            <a:ext cx="1335024" cy="192024"/>
          </a:xfrm>
          <a:prstGeom prst="rect">
            <a:avLst/>
          </a:prstGeom>
          <a:noFill/>
          <a:ln/>
        </p:spPr>
        <p:txBody>
          <a:bodyPr wrap="square" lIns="0" tIns="0" rIns="0" bIns="0" rtlCol="0" anchor="ctr">
            <a:normAutofit/>
          </a:bodyPr>
          <a:lstStyle/>
          <a:p>
            <a:pPr algn="ctr" indent="0" marL="0">
              <a:lnSpc>
                <a:spcPct val="96000"/>
              </a:lnSpc>
              <a:buNone/>
            </a:pPr>
            <a:r>
              <a:rPr lang="en-US" sz="1140" b="1" dirty="0">
                <a:solidFill>
                  <a:srgbClr val="2B0A3D"/>
                </a:solidFill>
                <a:latin typeface="Ubuntu" pitchFamily="34" charset="0"/>
                <a:ea typeface="Ubuntu" pitchFamily="34" charset="-122"/>
                <a:cs typeface="Ubuntu" pitchFamily="34" charset="-120"/>
              </a:rPr>
              <a:t>EVALUATE</a:t>
            </a:r>
            <a:endParaRPr lang="en-US" sz="1140" dirty="0"/>
          </a:p>
        </p:txBody>
      </p:sp>
      <p:sp>
        <p:nvSpPr>
          <p:cNvPr id="10" name="Shape 8"/>
          <p:cNvSpPr/>
          <p:nvPr/>
        </p:nvSpPr>
        <p:spPr>
          <a:xfrm>
            <a:off x="484632" y="1421892"/>
            <a:ext cx="2194560" cy="4050792"/>
          </a:xfrm>
          <a:prstGeom prst="roundRect">
            <a:avLst>
              <a:gd name="adj" fmla="val 4583"/>
            </a:avLst>
          </a:prstGeom>
          <a:solidFill>
            <a:srgbClr val="F5F5F7"/>
          </a:solidFill>
          <a:ln w="12700">
            <a:solidFill>
              <a:srgbClr val="F5F5F7">
                <a:alpha val="0"/>
              </a:srgbClr>
            </a:solidFill>
            <a:prstDash val="solid"/>
          </a:ln>
        </p:spPr>
      </p:sp>
      <p:sp>
        <p:nvSpPr>
          <p:cNvPr id="11" name="Text 9"/>
          <p:cNvSpPr txBox="1"/>
          <p:nvPr/>
        </p:nvSpPr>
        <p:spPr>
          <a:xfrm>
            <a:off x="640080" y="1586484"/>
            <a:ext cx="1879092" cy="502920"/>
          </a:xfrm>
          <a:prstGeom prst="rect">
            <a:avLst/>
          </a:prstGeom>
          <a:noFill/>
          <a:ln/>
        </p:spPr>
        <p:txBody>
          <a:bodyPr wrap="square" lIns="0" tIns="0" rIns="0" bIns="0" rtlCol="0" anchor="ctr">
            <a:normAutofit/>
          </a:bodyPr>
          <a:lstStyle/>
          <a:p>
            <a:pPr algn="l" indent="0" marL="0">
              <a:lnSpc>
                <a:spcPct val="96000"/>
              </a:lnSpc>
              <a:buNone/>
            </a:pPr>
            <a:r>
              <a:rPr lang="en-US" sz="1500" b="1" dirty="0">
                <a:solidFill>
                  <a:srgbClr val="2B0A3D"/>
                </a:solidFill>
                <a:latin typeface="Ubuntu" pitchFamily="34" charset="0"/>
                <a:ea typeface="Ubuntu" pitchFamily="34" charset="-122"/>
                <a:cs typeface="Ubuntu" pitchFamily="34" charset="-120"/>
              </a:rPr>
              <a:t>Start with the</a:t>
            </a:r>
            <a:endParaRPr lang="en-US" sz="1500" dirty="0"/>
          </a:p>
          <a:p>
            <a:pPr algn="l" indent="0" marL="0">
              <a:lnSpc>
                <a:spcPct val="96000"/>
              </a:lnSpc>
              <a:buNone/>
            </a:pPr>
            <a:r>
              <a:rPr lang="en-US" sz="1500" b="1" dirty="0">
                <a:solidFill>
                  <a:srgbClr val="2B0A3D"/>
                </a:solidFill>
                <a:latin typeface="Ubuntu" pitchFamily="34" charset="0"/>
                <a:ea typeface="Ubuntu" pitchFamily="34" charset="-122"/>
                <a:cs typeface="Ubuntu" pitchFamily="34" charset="-120"/>
              </a:rPr>
              <a:t>real process</a:t>
            </a:r>
            <a:endParaRPr lang="en-US" sz="1500" dirty="0"/>
          </a:p>
        </p:txBody>
      </p:sp>
      <p:sp>
        <p:nvSpPr>
          <p:cNvPr id="12" name="Shape 10"/>
          <p:cNvSpPr/>
          <p:nvPr/>
        </p:nvSpPr>
        <p:spPr>
          <a:xfrm>
            <a:off x="626364" y="2199132"/>
            <a:ext cx="1915668" cy="811073"/>
          </a:xfrm>
          <a:prstGeom prst="roundRect">
            <a:avLst>
              <a:gd name="adj" fmla="val 7892"/>
            </a:avLst>
          </a:prstGeom>
          <a:solidFill>
            <a:srgbClr val="FFFFFF"/>
          </a:solidFill>
          <a:ln w="9525">
            <a:solidFill>
              <a:srgbClr val="DDDDE2"/>
            </a:solidFill>
            <a:prstDash val="solid"/>
          </a:ln>
        </p:spPr>
      </p:sp>
      <p:sp>
        <p:nvSpPr>
          <p:cNvPr id="13" name="Shape 11"/>
          <p:cNvSpPr/>
          <p:nvPr/>
        </p:nvSpPr>
        <p:spPr>
          <a:xfrm>
            <a:off x="768096" y="2373782"/>
            <a:ext cx="243230" cy="290779"/>
          </a:xfrm>
          <a:prstGeom prst="roundRect">
            <a:avLst>
              <a:gd name="adj" fmla="val 6767"/>
            </a:avLst>
          </a:prstGeom>
          <a:solidFill>
            <a:srgbClr val="FFFFFF"/>
          </a:solidFill>
          <a:ln w="17145">
            <a:solidFill>
              <a:srgbClr val="0070AD"/>
            </a:solidFill>
            <a:prstDash val="solid"/>
          </a:ln>
        </p:spPr>
      </p:sp>
      <p:sp>
        <p:nvSpPr>
          <p:cNvPr id="14" name="Shape 12"/>
          <p:cNvSpPr/>
          <p:nvPr/>
        </p:nvSpPr>
        <p:spPr>
          <a:xfrm>
            <a:off x="812902" y="2478938"/>
            <a:ext cx="155448" cy="0"/>
          </a:xfrm>
          <a:prstGeom prst="line">
            <a:avLst/>
          </a:prstGeom>
          <a:noFill/>
          <a:ln w="13335">
            <a:solidFill>
              <a:srgbClr val="0070AD"/>
            </a:solidFill>
            <a:prstDash val="solid"/>
            <a:headEnd type="none"/>
          </a:ln>
        </p:spPr>
      </p:sp>
      <p:sp>
        <p:nvSpPr>
          <p:cNvPr id="15" name="Shape 13"/>
          <p:cNvSpPr/>
          <p:nvPr/>
        </p:nvSpPr>
        <p:spPr>
          <a:xfrm>
            <a:off x="812902" y="2531059"/>
            <a:ext cx="155448" cy="0"/>
          </a:xfrm>
          <a:prstGeom prst="line">
            <a:avLst/>
          </a:prstGeom>
          <a:noFill/>
          <a:ln w="13335">
            <a:solidFill>
              <a:srgbClr val="0070AD"/>
            </a:solidFill>
            <a:prstDash val="solid"/>
            <a:headEnd type="none"/>
          </a:ln>
        </p:spPr>
      </p:sp>
      <p:sp>
        <p:nvSpPr>
          <p:cNvPr id="16" name="Shape 14"/>
          <p:cNvSpPr/>
          <p:nvPr/>
        </p:nvSpPr>
        <p:spPr>
          <a:xfrm>
            <a:off x="812902" y="2583180"/>
            <a:ext cx="111557" cy="0"/>
          </a:xfrm>
          <a:prstGeom prst="line">
            <a:avLst/>
          </a:prstGeom>
          <a:noFill/>
          <a:ln w="13335">
            <a:solidFill>
              <a:srgbClr val="0070AD"/>
            </a:solidFill>
            <a:prstDash val="solid"/>
            <a:headEnd type="none"/>
          </a:ln>
        </p:spPr>
      </p:sp>
      <p:sp>
        <p:nvSpPr>
          <p:cNvPr id="17" name="Text 15"/>
          <p:cNvSpPr txBox="1"/>
          <p:nvPr/>
        </p:nvSpPr>
        <p:spPr>
          <a:xfrm>
            <a:off x="1152144" y="2306117"/>
            <a:ext cx="1309421" cy="196596"/>
          </a:xfrm>
          <a:prstGeom prst="rect">
            <a:avLst/>
          </a:prstGeom>
          <a:noFill/>
          <a:ln/>
        </p:spPr>
        <p:txBody>
          <a:bodyPr wrap="square" lIns="0" tIns="0" rIns="0" bIns="0" rtlCol="0" anchor="ctr">
            <a:normAutofit/>
          </a:bodyPr>
          <a:lstStyle/>
          <a:p>
            <a:pPr algn="l" indent="0" marL="0">
              <a:lnSpc>
                <a:spcPct val="96000"/>
              </a:lnSpc>
              <a:buNone/>
            </a:pPr>
            <a:r>
              <a:rPr lang="en-US" sz="1035" b="1" dirty="0">
                <a:solidFill>
                  <a:srgbClr val="2B0A3D"/>
                </a:solidFill>
                <a:latin typeface="Ubuntu" pitchFamily="34" charset="0"/>
                <a:ea typeface="Ubuntu" pitchFamily="34" charset="-122"/>
                <a:cs typeface="Ubuntu" pitchFamily="34" charset="-120"/>
              </a:rPr>
              <a:t>Process evidence</a:t>
            </a:r>
            <a:endParaRPr lang="en-US" sz="1035" dirty="0"/>
          </a:p>
        </p:txBody>
      </p:sp>
      <p:sp>
        <p:nvSpPr>
          <p:cNvPr id="18" name="Text 16"/>
          <p:cNvSpPr txBox="1"/>
          <p:nvPr/>
        </p:nvSpPr>
        <p:spPr>
          <a:xfrm>
            <a:off x="1152144" y="2535631"/>
            <a:ext cx="1307592" cy="355702"/>
          </a:xfrm>
          <a:prstGeom prst="rect">
            <a:avLst/>
          </a:prstGeom>
          <a:noFill/>
          <a:ln/>
        </p:spPr>
        <p:txBody>
          <a:bodyPr wrap="square" lIns="0" tIns="0" rIns="0" bIns="0" rtlCol="0" anchor="t">
            <a:normAutofit/>
          </a:bodyPr>
          <a:lstStyle/>
          <a:p>
            <a:pPr algn="l" indent="0" marL="0">
              <a:lnSpc>
                <a:spcPct val="96000"/>
              </a:lnSpc>
              <a:buNone/>
            </a:pPr>
            <a:r>
              <a:rPr lang="en-US" sz="882" dirty="0">
                <a:solidFill>
                  <a:srgbClr val="34343D"/>
                </a:solidFill>
                <a:latin typeface="Ubuntu" pitchFamily="34" charset="0"/>
                <a:ea typeface="Ubuntu" pitchFamily="34" charset="-122"/>
                <a:cs typeface="Ubuntu" pitchFamily="34" charset="-120"/>
              </a:rPr>
              <a:t>Documents, maps,</a:t>
            </a:r>
            <a:endParaRPr lang="en-US" sz="882" dirty="0"/>
          </a:p>
          <a:p>
            <a:pPr algn="l" indent="0" marL="0">
              <a:lnSpc>
                <a:spcPct val="96000"/>
              </a:lnSpc>
              <a:buNone/>
            </a:pPr>
            <a:r>
              <a:rPr lang="en-US" sz="882" dirty="0">
                <a:solidFill>
                  <a:srgbClr val="34343D"/>
                </a:solidFill>
                <a:latin typeface="Ubuntu" pitchFamily="34" charset="0"/>
                <a:ea typeface="Ubuntu" pitchFamily="34" charset="-122"/>
                <a:cs typeface="Ubuntu" pitchFamily="34" charset="-120"/>
              </a:rPr>
              <a:t>operating notes</a:t>
            </a:r>
            <a:endParaRPr lang="en-US" sz="882" dirty="0"/>
          </a:p>
        </p:txBody>
      </p:sp>
      <p:sp>
        <p:nvSpPr>
          <p:cNvPr id="19" name="Shape 17"/>
          <p:cNvSpPr/>
          <p:nvPr/>
        </p:nvSpPr>
        <p:spPr>
          <a:xfrm>
            <a:off x="626364" y="3166567"/>
            <a:ext cx="1915668" cy="811073"/>
          </a:xfrm>
          <a:prstGeom prst="roundRect">
            <a:avLst>
              <a:gd name="adj" fmla="val 7892"/>
            </a:avLst>
          </a:prstGeom>
          <a:solidFill>
            <a:srgbClr val="FFFFFF"/>
          </a:solidFill>
          <a:ln w="9525">
            <a:solidFill>
              <a:srgbClr val="DDDDE2"/>
            </a:solidFill>
            <a:prstDash val="solid"/>
          </a:ln>
        </p:spPr>
      </p:sp>
      <p:sp>
        <p:nvSpPr>
          <p:cNvPr id="20" name="Shape 18"/>
          <p:cNvSpPr/>
          <p:nvPr/>
        </p:nvSpPr>
        <p:spPr>
          <a:xfrm>
            <a:off x="756209" y="3440887"/>
            <a:ext cx="118872" cy="119786"/>
          </a:xfrm>
          <a:prstGeom prst="roundRect">
            <a:avLst>
              <a:gd name="adj" fmla="val 9231"/>
            </a:avLst>
          </a:prstGeom>
          <a:solidFill>
            <a:srgbClr val="FFFFFF"/>
          </a:solidFill>
          <a:ln w="16510">
            <a:solidFill>
              <a:srgbClr val="0070AD"/>
            </a:solidFill>
            <a:prstDash val="solid"/>
          </a:ln>
        </p:spPr>
      </p:sp>
      <p:sp>
        <p:nvSpPr>
          <p:cNvPr id="21" name="Shape 19"/>
          <p:cNvSpPr/>
          <p:nvPr/>
        </p:nvSpPr>
        <p:spPr>
          <a:xfrm>
            <a:off x="977494" y="3350362"/>
            <a:ext cx="112471" cy="119786"/>
          </a:xfrm>
          <a:prstGeom prst="roundRect">
            <a:avLst>
              <a:gd name="adj" fmla="val 9756"/>
            </a:avLst>
          </a:prstGeom>
          <a:solidFill>
            <a:srgbClr val="FFFFFF"/>
          </a:solidFill>
          <a:ln w="16510">
            <a:solidFill>
              <a:srgbClr val="0070AD"/>
            </a:solidFill>
            <a:prstDash val="solid"/>
          </a:ln>
        </p:spPr>
      </p:sp>
      <p:sp>
        <p:nvSpPr>
          <p:cNvPr id="22" name="Shape 20"/>
          <p:cNvSpPr/>
          <p:nvPr/>
        </p:nvSpPr>
        <p:spPr>
          <a:xfrm>
            <a:off x="977494" y="3535985"/>
            <a:ext cx="112471" cy="119786"/>
          </a:xfrm>
          <a:prstGeom prst="roundRect">
            <a:avLst>
              <a:gd name="adj" fmla="val 9756"/>
            </a:avLst>
          </a:prstGeom>
          <a:solidFill>
            <a:srgbClr val="FFFFFF"/>
          </a:solidFill>
          <a:ln w="16510">
            <a:solidFill>
              <a:srgbClr val="0070AD"/>
            </a:solidFill>
            <a:prstDash val="solid"/>
          </a:ln>
        </p:spPr>
      </p:sp>
      <p:sp>
        <p:nvSpPr>
          <p:cNvPr id="23" name="Shape 21"/>
          <p:cNvSpPr/>
          <p:nvPr/>
        </p:nvSpPr>
        <p:spPr>
          <a:xfrm>
            <a:off x="875081" y="3500323"/>
            <a:ext cx="53950" cy="0"/>
          </a:xfrm>
          <a:prstGeom prst="line">
            <a:avLst/>
          </a:prstGeom>
          <a:noFill/>
          <a:ln w="14605">
            <a:solidFill>
              <a:srgbClr val="0070AD"/>
            </a:solidFill>
            <a:prstDash val="solid"/>
            <a:headEnd type="none"/>
          </a:ln>
        </p:spPr>
      </p:sp>
      <p:sp>
        <p:nvSpPr>
          <p:cNvPr id="24" name="Shape 22"/>
          <p:cNvSpPr/>
          <p:nvPr/>
        </p:nvSpPr>
        <p:spPr>
          <a:xfrm>
            <a:off x="929030" y="3408883"/>
            <a:ext cx="0" cy="187452"/>
          </a:xfrm>
          <a:prstGeom prst="line">
            <a:avLst/>
          </a:prstGeom>
          <a:noFill/>
          <a:ln w="14605">
            <a:solidFill>
              <a:srgbClr val="0070AD"/>
            </a:solidFill>
            <a:prstDash val="solid"/>
            <a:headEnd type="none"/>
          </a:ln>
        </p:spPr>
      </p:sp>
      <p:sp>
        <p:nvSpPr>
          <p:cNvPr id="25" name="Shape 23"/>
          <p:cNvSpPr/>
          <p:nvPr/>
        </p:nvSpPr>
        <p:spPr>
          <a:xfrm>
            <a:off x="929030" y="3409798"/>
            <a:ext cx="48463" cy="0"/>
          </a:xfrm>
          <a:prstGeom prst="line">
            <a:avLst/>
          </a:prstGeom>
          <a:noFill/>
          <a:ln w="14605">
            <a:solidFill>
              <a:srgbClr val="0070AD"/>
            </a:solidFill>
            <a:prstDash val="solid"/>
            <a:headEnd type="none"/>
          </a:ln>
        </p:spPr>
      </p:sp>
      <p:sp>
        <p:nvSpPr>
          <p:cNvPr id="26" name="Shape 24"/>
          <p:cNvSpPr/>
          <p:nvPr/>
        </p:nvSpPr>
        <p:spPr>
          <a:xfrm>
            <a:off x="929030" y="3594506"/>
            <a:ext cx="48463" cy="0"/>
          </a:xfrm>
          <a:prstGeom prst="line">
            <a:avLst/>
          </a:prstGeom>
          <a:noFill/>
          <a:ln w="14605">
            <a:solidFill>
              <a:srgbClr val="0070AD"/>
            </a:solidFill>
            <a:prstDash val="solid"/>
            <a:headEnd type="none"/>
          </a:ln>
        </p:spPr>
      </p:sp>
      <p:sp>
        <p:nvSpPr>
          <p:cNvPr id="27" name="Text 25"/>
          <p:cNvSpPr txBox="1"/>
          <p:nvPr/>
        </p:nvSpPr>
        <p:spPr>
          <a:xfrm>
            <a:off x="1152144" y="3273552"/>
            <a:ext cx="1309421" cy="196596"/>
          </a:xfrm>
          <a:prstGeom prst="rect">
            <a:avLst/>
          </a:prstGeom>
          <a:noFill/>
          <a:ln/>
        </p:spPr>
        <p:txBody>
          <a:bodyPr wrap="square" lIns="0" tIns="0" rIns="0" bIns="0" rtlCol="0" anchor="ctr">
            <a:normAutofit/>
          </a:bodyPr>
          <a:lstStyle/>
          <a:p>
            <a:pPr algn="l" indent="0" marL="0">
              <a:lnSpc>
                <a:spcPct val="96000"/>
              </a:lnSpc>
              <a:buNone/>
            </a:pPr>
            <a:r>
              <a:rPr lang="en-US" sz="1035" b="1" dirty="0">
                <a:solidFill>
                  <a:srgbClr val="2B0A3D"/>
                </a:solidFill>
                <a:latin typeface="Ubuntu" pitchFamily="34" charset="0"/>
                <a:ea typeface="Ubuntu" pitchFamily="34" charset="-122"/>
                <a:cs typeface="Ubuntu" pitchFamily="34" charset="-120"/>
              </a:rPr>
              <a:t>Business context</a:t>
            </a:r>
            <a:endParaRPr lang="en-US" sz="1035" dirty="0"/>
          </a:p>
        </p:txBody>
      </p:sp>
      <p:sp>
        <p:nvSpPr>
          <p:cNvPr id="28" name="Text 26"/>
          <p:cNvSpPr txBox="1"/>
          <p:nvPr/>
        </p:nvSpPr>
        <p:spPr>
          <a:xfrm>
            <a:off x="1152144" y="3503066"/>
            <a:ext cx="1307592" cy="355702"/>
          </a:xfrm>
          <a:prstGeom prst="rect">
            <a:avLst/>
          </a:prstGeom>
          <a:noFill/>
          <a:ln/>
        </p:spPr>
        <p:txBody>
          <a:bodyPr wrap="square" lIns="0" tIns="0" rIns="0" bIns="0" rtlCol="0" anchor="t">
            <a:normAutofit/>
          </a:bodyPr>
          <a:lstStyle/>
          <a:p>
            <a:pPr algn="l" indent="0" marL="0">
              <a:lnSpc>
                <a:spcPct val="96000"/>
              </a:lnSpc>
              <a:buNone/>
            </a:pPr>
            <a:r>
              <a:rPr lang="en-US" sz="882" dirty="0">
                <a:solidFill>
                  <a:srgbClr val="34343D"/>
                </a:solidFill>
                <a:latin typeface="Ubuntu" pitchFamily="34" charset="0"/>
                <a:ea typeface="Ubuntu" pitchFamily="34" charset="-122"/>
                <a:cs typeface="Ubuntu" pitchFamily="34" charset="-120"/>
              </a:rPr>
              <a:t>Roles, handoffs,</a:t>
            </a:r>
            <a:endParaRPr lang="en-US" sz="882" dirty="0"/>
          </a:p>
          <a:p>
            <a:pPr algn="l" indent="0" marL="0">
              <a:lnSpc>
                <a:spcPct val="96000"/>
              </a:lnSpc>
              <a:buNone/>
            </a:pPr>
            <a:r>
              <a:rPr lang="en-US" sz="882" dirty="0">
                <a:solidFill>
                  <a:srgbClr val="34343D"/>
                </a:solidFill>
                <a:latin typeface="Ubuntu" pitchFamily="34" charset="0"/>
                <a:ea typeface="Ubuntu" pitchFamily="34" charset="-122"/>
                <a:cs typeface="Ubuntu" pitchFamily="34" charset="-120"/>
              </a:rPr>
              <a:t>controls, exceptions</a:t>
            </a:r>
            <a:endParaRPr lang="en-US" sz="882" dirty="0"/>
          </a:p>
        </p:txBody>
      </p:sp>
      <p:sp>
        <p:nvSpPr>
          <p:cNvPr id="29" name="Shape 27"/>
          <p:cNvSpPr/>
          <p:nvPr/>
        </p:nvSpPr>
        <p:spPr>
          <a:xfrm>
            <a:off x="626364" y="4134002"/>
            <a:ext cx="1915668" cy="811073"/>
          </a:xfrm>
          <a:prstGeom prst="roundRect">
            <a:avLst>
              <a:gd name="adj" fmla="val 7892"/>
            </a:avLst>
          </a:prstGeom>
          <a:solidFill>
            <a:srgbClr val="FFFFFF"/>
          </a:solidFill>
          <a:ln w="9525">
            <a:solidFill>
              <a:srgbClr val="DDDDE2"/>
            </a:solidFill>
            <a:prstDash val="solid"/>
          </a:ln>
        </p:spPr>
      </p:sp>
      <p:sp>
        <p:nvSpPr>
          <p:cNvPr id="30" name="Shape 28"/>
          <p:cNvSpPr/>
          <p:nvPr/>
        </p:nvSpPr>
        <p:spPr>
          <a:xfrm>
            <a:off x="752551" y="4346143"/>
            <a:ext cx="334670" cy="0"/>
          </a:xfrm>
          <a:prstGeom prst="line">
            <a:avLst/>
          </a:prstGeom>
          <a:noFill/>
          <a:ln w="17780">
            <a:solidFill>
              <a:srgbClr val="0070AD"/>
            </a:solidFill>
            <a:prstDash val="solid"/>
            <a:headEnd type="none"/>
          </a:ln>
        </p:spPr>
      </p:sp>
      <p:sp>
        <p:nvSpPr>
          <p:cNvPr id="31" name="Shape 29"/>
          <p:cNvSpPr/>
          <p:nvPr/>
        </p:nvSpPr>
        <p:spPr>
          <a:xfrm>
            <a:off x="752551" y="4466844"/>
            <a:ext cx="334670" cy="0"/>
          </a:xfrm>
          <a:prstGeom prst="line">
            <a:avLst/>
          </a:prstGeom>
          <a:noFill/>
          <a:ln w="17780">
            <a:solidFill>
              <a:srgbClr val="0070AD"/>
            </a:solidFill>
            <a:prstDash val="solid"/>
            <a:headEnd type="none"/>
          </a:ln>
        </p:spPr>
      </p:sp>
      <p:sp>
        <p:nvSpPr>
          <p:cNvPr id="32" name="Shape 30"/>
          <p:cNvSpPr/>
          <p:nvPr/>
        </p:nvSpPr>
        <p:spPr>
          <a:xfrm>
            <a:off x="752551" y="4588459"/>
            <a:ext cx="334670" cy="0"/>
          </a:xfrm>
          <a:prstGeom prst="line">
            <a:avLst/>
          </a:prstGeom>
          <a:noFill/>
          <a:ln w="17780">
            <a:solidFill>
              <a:srgbClr val="0070AD"/>
            </a:solidFill>
            <a:prstDash val="solid"/>
            <a:headEnd type="none"/>
          </a:ln>
        </p:spPr>
      </p:sp>
      <p:sp>
        <p:nvSpPr>
          <p:cNvPr id="33" name="Shape 31"/>
          <p:cNvSpPr/>
          <p:nvPr/>
        </p:nvSpPr>
        <p:spPr>
          <a:xfrm>
            <a:off x="822960" y="4304995"/>
            <a:ext cx="82296" cy="82296"/>
          </a:xfrm>
          <a:prstGeom prst="ellipse">
            <a:avLst/>
          </a:prstGeom>
          <a:solidFill>
            <a:srgbClr val="FFFFFF"/>
          </a:solidFill>
          <a:ln w="15875">
            <a:solidFill>
              <a:srgbClr val="0070AD"/>
            </a:solidFill>
            <a:prstDash val="solid"/>
          </a:ln>
        </p:spPr>
      </p:sp>
      <p:sp>
        <p:nvSpPr>
          <p:cNvPr id="34" name="Shape 32"/>
          <p:cNvSpPr/>
          <p:nvPr/>
        </p:nvSpPr>
        <p:spPr>
          <a:xfrm>
            <a:off x="988466" y="4427525"/>
            <a:ext cx="82296" cy="82296"/>
          </a:xfrm>
          <a:prstGeom prst="ellipse">
            <a:avLst/>
          </a:prstGeom>
          <a:solidFill>
            <a:srgbClr val="FFFFFF"/>
          </a:solidFill>
          <a:ln w="15875">
            <a:solidFill>
              <a:srgbClr val="0070AD"/>
            </a:solidFill>
            <a:prstDash val="solid"/>
          </a:ln>
        </p:spPr>
      </p:sp>
      <p:sp>
        <p:nvSpPr>
          <p:cNvPr id="35" name="Shape 33"/>
          <p:cNvSpPr/>
          <p:nvPr/>
        </p:nvSpPr>
        <p:spPr>
          <a:xfrm>
            <a:off x="879653" y="4548226"/>
            <a:ext cx="82296" cy="82296"/>
          </a:xfrm>
          <a:prstGeom prst="ellipse">
            <a:avLst/>
          </a:prstGeom>
          <a:solidFill>
            <a:srgbClr val="FFFFFF"/>
          </a:solidFill>
          <a:ln w="15875">
            <a:solidFill>
              <a:srgbClr val="0070AD"/>
            </a:solidFill>
            <a:prstDash val="solid"/>
          </a:ln>
        </p:spPr>
      </p:sp>
      <p:sp>
        <p:nvSpPr>
          <p:cNvPr id="36" name="Text 34"/>
          <p:cNvSpPr txBox="1"/>
          <p:nvPr/>
        </p:nvSpPr>
        <p:spPr>
          <a:xfrm>
            <a:off x="1152144" y="4240987"/>
            <a:ext cx="1309421" cy="196596"/>
          </a:xfrm>
          <a:prstGeom prst="rect">
            <a:avLst/>
          </a:prstGeom>
          <a:noFill/>
          <a:ln/>
        </p:spPr>
        <p:txBody>
          <a:bodyPr wrap="square" lIns="0" tIns="0" rIns="0" bIns="0" rtlCol="0" anchor="ctr">
            <a:normAutofit/>
          </a:bodyPr>
          <a:lstStyle/>
          <a:p>
            <a:pPr algn="l" indent="0" marL="0">
              <a:lnSpc>
                <a:spcPct val="96000"/>
              </a:lnSpc>
              <a:buNone/>
            </a:pPr>
            <a:r>
              <a:rPr lang="en-US" sz="1035" b="1" dirty="0">
                <a:solidFill>
                  <a:srgbClr val="2B0A3D"/>
                </a:solidFill>
                <a:latin typeface="Ubuntu" pitchFamily="34" charset="0"/>
                <a:ea typeface="Ubuntu" pitchFamily="34" charset="-122"/>
                <a:cs typeface="Ubuntu" pitchFamily="34" charset="-120"/>
              </a:rPr>
              <a:t>Workshop assumptions</a:t>
            </a:r>
            <a:endParaRPr lang="en-US" sz="1035" dirty="0"/>
          </a:p>
        </p:txBody>
      </p:sp>
      <p:sp>
        <p:nvSpPr>
          <p:cNvPr id="37" name="Text 35"/>
          <p:cNvSpPr txBox="1"/>
          <p:nvPr/>
        </p:nvSpPr>
        <p:spPr>
          <a:xfrm>
            <a:off x="1152144" y="4470502"/>
            <a:ext cx="1307592" cy="355702"/>
          </a:xfrm>
          <a:prstGeom prst="rect">
            <a:avLst/>
          </a:prstGeom>
          <a:noFill/>
          <a:ln/>
        </p:spPr>
        <p:txBody>
          <a:bodyPr wrap="square" lIns="0" tIns="0" rIns="0" bIns="0" rtlCol="0" anchor="t">
            <a:normAutofit/>
          </a:bodyPr>
          <a:lstStyle/>
          <a:p>
            <a:pPr algn="l" indent="0" marL="0">
              <a:lnSpc>
                <a:spcPct val="96000"/>
              </a:lnSpc>
              <a:buNone/>
            </a:pPr>
            <a:r>
              <a:rPr lang="en-US" sz="882" dirty="0">
                <a:solidFill>
                  <a:srgbClr val="34343D"/>
                </a:solidFill>
                <a:latin typeface="Ubuntu" pitchFamily="34" charset="0"/>
                <a:ea typeface="Ubuntu" pitchFamily="34" charset="-122"/>
                <a:cs typeface="Ubuntu" pitchFamily="34" charset="-120"/>
              </a:rPr>
              <a:t>Volumes, effort,</a:t>
            </a:r>
            <a:endParaRPr lang="en-US" sz="882" dirty="0"/>
          </a:p>
          <a:p>
            <a:pPr algn="l" indent="0" marL="0">
              <a:lnSpc>
                <a:spcPct val="96000"/>
              </a:lnSpc>
              <a:buNone/>
            </a:pPr>
            <a:r>
              <a:rPr lang="en-US" sz="882" dirty="0">
                <a:solidFill>
                  <a:srgbClr val="34343D"/>
                </a:solidFill>
                <a:latin typeface="Ubuntu" pitchFamily="34" charset="0"/>
                <a:ea typeface="Ubuntu" pitchFamily="34" charset="-122"/>
                <a:cs typeface="Ubuntu" pitchFamily="34" charset="-120"/>
              </a:rPr>
              <a:t>waits, costs</a:t>
            </a:r>
            <a:endParaRPr lang="en-US" sz="882" dirty="0"/>
          </a:p>
        </p:txBody>
      </p:sp>
      <p:sp>
        <p:nvSpPr>
          <p:cNvPr id="38" name="Text 36"/>
          <p:cNvSpPr txBox="1"/>
          <p:nvPr/>
        </p:nvSpPr>
        <p:spPr>
          <a:xfrm>
            <a:off x="640080" y="5053889"/>
            <a:ext cx="1876349" cy="309982"/>
          </a:xfrm>
          <a:prstGeom prst="rect">
            <a:avLst/>
          </a:prstGeom>
          <a:noFill/>
          <a:ln/>
        </p:spPr>
        <p:txBody>
          <a:bodyPr wrap="square" lIns="0" tIns="0" rIns="0" bIns="0" rtlCol="0" anchor="ctr">
            <a:normAutofit/>
          </a:bodyPr>
          <a:lstStyle/>
          <a:p>
            <a:pPr algn="ctr" indent="0" marL="0">
              <a:lnSpc>
                <a:spcPct val="96000"/>
              </a:lnSpc>
              <a:buNone/>
            </a:pPr>
            <a:r>
              <a:rPr lang="en-US" sz="891" dirty="0">
                <a:solidFill>
                  <a:srgbClr val="0070AD"/>
                </a:solidFill>
                <a:latin typeface="Ubuntu" pitchFamily="34" charset="0"/>
                <a:ea typeface="Ubuntu" pitchFamily="34" charset="-122"/>
                <a:cs typeface="Ubuntu" pitchFamily="34" charset="-120"/>
              </a:rPr>
              <a:t>Separate what is known from</a:t>
            </a:r>
            <a:endParaRPr lang="en-US" sz="891" dirty="0"/>
          </a:p>
          <a:p>
            <a:pPr algn="ctr" indent="0" marL="0">
              <a:lnSpc>
                <a:spcPct val="96000"/>
              </a:lnSpc>
              <a:buNone/>
            </a:pPr>
            <a:r>
              <a:rPr lang="en-US" sz="891" dirty="0">
                <a:solidFill>
                  <a:srgbClr val="0070AD"/>
                </a:solidFill>
                <a:latin typeface="Ubuntu" pitchFamily="34" charset="0"/>
                <a:ea typeface="Ubuntu" pitchFamily="34" charset="-122"/>
                <a:cs typeface="Ubuntu" pitchFamily="34" charset="-120"/>
              </a:rPr>
              <a:t>what needs validation</a:t>
            </a:r>
            <a:endParaRPr lang="en-US" sz="891" dirty="0"/>
          </a:p>
        </p:txBody>
      </p:sp>
      <p:sp>
        <p:nvSpPr>
          <p:cNvPr id="39" name="Shape 37"/>
          <p:cNvSpPr/>
          <p:nvPr/>
        </p:nvSpPr>
        <p:spPr>
          <a:xfrm>
            <a:off x="2543861" y="2602382"/>
            <a:ext cx="175565" cy="0"/>
          </a:xfrm>
          <a:prstGeom prst="line">
            <a:avLst/>
          </a:prstGeom>
          <a:noFill/>
          <a:ln w="12065">
            <a:solidFill>
              <a:srgbClr val="0070AD"/>
            </a:solidFill>
            <a:prstDash val="solid"/>
            <a:headEnd type="none"/>
          </a:ln>
        </p:spPr>
      </p:sp>
      <p:sp>
        <p:nvSpPr>
          <p:cNvPr id="40" name="Shape 38"/>
          <p:cNvSpPr/>
          <p:nvPr/>
        </p:nvSpPr>
        <p:spPr>
          <a:xfrm>
            <a:off x="2543861" y="3569818"/>
            <a:ext cx="175565" cy="0"/>
          </a:xfrm>
          <a:prstGeom prst="line">
            <a:avLst/>
          </a:prstGeom>
          <a:noFill/>
          <a:ln w="12065">
            <a:solidFill>
              <a:srgbClr val="0070AD"/>
            </a:solidFill>
            <a:prstDash val="solid"/>
            <a:headEnd type="none"/>
          </a:ln>
        </p:spPr>
      </p:sp>
      <p:sp>
        <p:nvSpPr>
          <p:cNvPr id="41" name="Shape 39"/>
          <p:cNvSpPr/>
          <p:nvPr/>
        </p:nvSpPr>
        <p:spPr>
          <a:xfrm>
            <a:off x="2543861" y="4537253"/>
            <a:ext cx="175565" cy="0"/>
          </a:xfrm>
          <a:prstGeom prst="line">
            <a:avLst/>
          </a:prstGeom>
          <a:noFill/>
          <a:ln w="12065">
            <a:solidFill>
              <a:srgbClr val="0070AD"/>
            </a:solidFill>
            <a:prstDash val="solid"/>
            <a:headEnd type="none"/>
          </a:ln>
        </p:spPr>
      </p:sp>
      <p:sp>
        <p:nvSpPr>
          <p:cNvPr id="42" name="Shape 40"/>
          <p:cNvSpPr/>
          <p:nvPr/>
        </p:nvSpPr>
        <p:spPr>
          <a:xfrm>
            <a:off x="2720340" y="2603297"/>
            <a:ext cx="0" cy="1933956"/>
          </a:xfrm>
          <a:prstGeom prst="line">
            <a:avLst/>
          </a:prstGeom>
          <a:noFill/>
          <a:ln w="11430">
            <a:solidFill>
              <a:srgbClr val="0070AD"/>
            </a:solidFill>
            <a:prstDash val="solid"/>
            <a:headEnd type="none"/>
          </a:ln>
        </p:spPr>
      </p:sp>
      <p:sp>
        <p:nvSpPr>
          <p:cNvPr id="43" name="Shape 41"/>
          <p:cNvSpPr/>
          <p:nvPr/>
        </p:nvSpPr>
        <p:spPr>
          <a:xfrm>
            <a:off x="2720340" y="3569818"/>
            <a:ext cx="86868" cy="0"/>
          </a:xfrm>
          <a:prstGeom prst="line">
            <a:avLst/>
          </a:prstGeom>
          <a:noFill/>
          <a:ln w="20320">
            <a:solidFill>
              <a:srgbClr val="0070AD"/>
            </a:solidFill>
            <a:prstDash val="solid"/>
            <a:headEnd type="none"/>
            <a:tailEnd type="triangle"/>
          </a:ln>
        </p:spPr>
      </p:sp>
      <p:sp>
        <p:nvSpPr>
          <p:cNvPr id="44" name="Shape 42"/>
          <p:cNvSpPr/>
          <p:nvPr/>
        </p:nvSpPr>
        <p:spPr>
          <a:xfrm>
            <a:off x="2823667" y="1420063"/>
            <a:ext cx="6798564" cy="4053535"/>
          </a:xfrm>
          <a:prstGeom prst="roundRect">
            <a:avLst>
              <a:gd name="adj" fmla="val 1241"/>
            </a:avLst>
          </a:prstGeom>
          <a:solidFill>
            <a:srgbClr val="FFFFFF"/>
          </a:solidFill>
          <a:ln w="10795">
            <a:solidFill>
              <a:srgbClr val="DDDDE2"/>
            </a:solidFill>
            <a:prstDash val="solid"/>
          </a:ln>
        </p:spPr>
      </p:sp>
      <p:sp>
        <p:nvSpPr>
          <p:cNvPr id="45" name="Shape 43"/>
          <p:cNvSpPr/>
          <p:nvPr/>
        </p:nvSpPr>
        <p:spPr>
          <a:xfrm>
            <a:off x="2823667" y="1420063"/>
            <a:ext cx="6798564" cy="327355"/>
          </a:xfrm>
          <a:prstGeom prst="roundRect">
            <a:avLst>
              <a:gd name="adj" fmla="val 8939"/>
            </a:avLst>
          </a:prstGeom>
          <a:solidFill>
            <a:srgbClr val="2B0A3D"/>
          </a:solidFill>
          <a:ln w="12700">
            <a:solidFill>
              <a:srgbClr val="2B0A3D">
                <a:alpha val="0"/>
              </a:srgbClr>
            </a:solidFill>
            <a:prstDash val="solid"/>
          </a:ln>
        </p:spPr>
      </p:sp>
      <p:sp>
        <p:nvSpPr>
          <p:cNvPr id="46" name="Text 44"/>
          <p:cNvSpPr txBox="1"/>
          <p:nvPr/>
        </p:nvSpPr>
        <p:spPr>
          <a:xfrm>
            <a:off x="2967228" y="1469441"/>
            <a:ext cx="6492240" cy="210312"/>
          </a:xfrm>
          <a:prstGeom prst="rect">
            <a:avLst/>
          </a:prstGeom>
          <a:noFill/>
          <a:ln/>
        </p:spPr>
        <p:txBody>
          <a:bodyPr wrap="square" lIns="0" tIns="0" rIns="0" bIns="0" rtlCol="0" anchor="ctr">
            <a:normAutofit/>
          </a:bodyPr>
          <a:lstStyle/>
          <a:p>
            <a:pPr algn="l" indent="0" marL="0">
              <a:lnSpc>
                <a:spcPct val="96000"/>
              </a:lnSpc>
              <a:buNone/>
            </a:pPr>
            <a:r>
              <a:rPr lang="en-US" sz="1185" b="1" dirty="0">
                <a:solidFill>
                  <a:srgbClr val="FFFFFF"/>
                </a:solidFill>
                <a:latin typeface="Ubuntu" pitchFamily="34" charset="0"/>
                <a:ea typeface="Ubuntu" pitchFamily="34" charset="-122"/>
                <a:cs typeface="Ubuntu" pitchFamily="34" charset="-120"/>
              </a:rPr>
              <a:t>AIxRay  |  Before-and-after process exploration</a:t>
            </a:r>
            <a:endParaRPr lang="en-US" sz="1185" dirty="0"/>
          </a:p>
        </p:txBody>
      </p:sp>
      <p:sp>
        <p:nvSpPr>
          <p:cNvPr id="47" name="Text 45"/>
          <p:cNvSpPr txBox="1"/>
          <p:nvPr/>
        </p:nvSpPr>
        <p:spPr>
          <a:xfrm>
            <a:off x="2964485" y="1793138"/>
            <a:ext cx="494690" cy="173736"/>
          </a:xfrm>
          <a:prstGeom prst="rect">
            <a:avLst/>
          </a:prstGeom>
          <a:noFill/>
          <a:ln/>
        </p:spPr>
        <p:txBody>
          <a:bodyPr wrap="square" lIns="0" tIns="0" rIns="0" bIns="0" rtlCol="0" anchor="ctr">
            <a:normAutofit/>
          </a:bodyPr>
          <a:lstStyle/>
          <a:p>
            <a:pPr algn="l" indent="0" marL="0">
              <a:lnSpc>
                <a:spcPct val="96000"/>
              </a:lnSpc>
              <a:buNone/>
            </a:pPr>
            <a:r>
              <a:rPr lang="en-US" sz="950" b="1" dirty="0">
                <a:solidFill>
                  <a:srgbClr val="0070AD"/>
                </a:solidFill>
                <a:latin typeface="Ubuntu" pitchFamily="34" charset="0"/>
                <a:ea typeface="Ubuntu" pitchFamily="34" charset="-122"/>
                <a:cs typeface="Ubuntu" pitchFamily="34" charset="-120"/>
              </a:rPr>
              <a:t>Routine</a:t>
            </a:r>
            <a:endParaRPr lang="en-US" sz="950" dirty="0"/>
          </a:p>
        </p:txBody>
      </p:sp>
      <p:sp>
        <p:nvSpPr>
          <p:cNvPr id="48" name="Shape 46"/>
          <p:cNvSpPr/>
          <p:nvPr/>
        </p:nvSpPr>
        <p:spPr>
          <a:xfrm>
            <a:off x="2962656" y="2001622"/>
            <a:ext cx="483718" cy="0"/>
          </a:xfrm>
          <a:prstGeom prst="line">
            <a:avLst/>
          </a:prstGeom>
          <a:noFill/>
          <a:ln w="24130">
            <a:solidFill>
              <a:srgbClr val="0070AD"/>
            </a:solidFill>
            <a:prstDash val="solid"/>
            <a:headEnd type="none"/>
          </a:ln>
        </p:spPr>
      </p:sp>
      <p:sp>
        <p:nvSpPr>
          <p:cNvPr id="49" name="Shape 47"/>
          <p:cNvSpPr/>
          <p:nvPr/>
        </p:nvSpPr>
        <p:spPr>
          <a:xfrm>
            <a:off x="3530498" y="1795882"/>
            <a:ext cx="0" cy="168250"/>
          </a:xfrm>
          <a:prstGeom prst="line">
            <a:avLst/>
          </a:prstGeom>
          <a:noFill/>
          <a:ln w="10160">
            <a:solidFill>
              <a:srgbClr val="DDDDE2"/>
            </a:solidFill>
            <a:prstDash val="solid"/>
            <a:headEnd type="none"/>
          </a:ln>
        </p:spPr>
      </p:sp>
      <p:sp>
        <p:nvSpPr>
          <p:cNvPr id="50" name="Text 48"/>
          <p:cNvSpPr txBox="1"/>
          <p:nvPr/>
        </p:nvSpPr>
        <p:spPr>
          <a:xfrm>
            <a:off x="3621938" y="1793138"/>
            <a:ext cx="1101852" cy="173736"/>
          </a:xfrm>
          <a:prstGeom prst="rect">
            <a:avLst/>
          </a:prstGeom>
          <a:noFill/>
          <a:ln/>
        </p:spPr>
        <p:txBody>
          <a:bodyPr wrap="square" lIns="0" tIns="0" rIns="0" bIns="0" rtlCol="0" anchor="ctr">
            <a:normAutofit/>
          </a:bodyPr>
          <a:lstStyle/>
          <a:p>
            <a:pPr algn="l" indent="0" marL="0">
              <a:lnSpc>
                <a:spcPct val="96000"/>
              </a:lnSpc>
              <a:buNone/>
            </a:pPr>
            <a:r>
              <a:rPr lang="en-US" sz="915" dirty="0">
                <a:solidFill>
                  <a:srgbClr val="71717E"/>
                </a:solidFill>
                <a:latin typeface="Ubuntu" pitchFamily="34" charset="0"/>
                <a:ea typeface="Ubuntu" pitchFamily="34" charset="-122"/>
                <a:cs typeface="Ubuntu" pitchFamily="34" charset="-120"/>
              </a:rPr>
              <a:t>Minor exception</a:t>
            </a:r>
            <a:endParaRPr lang="en-US" sz="915" dirty="0"/>
          </a:p>
        </p:txBody>
      </p:sp>
      <p:sp>
        <p:nvSpPr>
          <p:cNvPr id="51" name="Shape 49"/>
          <p:cNvSpPr/>
          <p:nvPr/>
        </p:nvSpPr>
        <p:spPr>
          <a:xfrm>
            <a:off x="4785970" y="1795882"/>
            <a:ext cx="0" cy="168250"/>
          </a:xfrm>
          <a:prstGeom prst="line">
            <a:avLst/>
          </a:prstGeom>
          <a:noFill/>
          <a:ln w="10160">
            <a:solidFill>
              <a:srgbClr val="DDDDE2"/>
            </a:solidFill>
            <a:prstDash val="solid"/>
            <a:headEnd type="none"/>
          </a:ln>
        </p:spPr>
      </p:sp>
      <p:sp>
        <p:nvSpPr>
          <p:cNvPr id="52" name="Text 50"/>
          <p:cNvSpPr txBox="1"/>
          <p:nvPr/>
        </p:nvSpPr>
        <p:spPr>
          <a:xfrm>
            <a:off x="4878324" y="1793138"/>
            <a:ext cx="1193292" cy="173736"/>
          </a:xfrm>
          <a:prstGeom prst="rect">
            <a:avLst/>
          </a:prstGeom>
          <a:noFill/>
          <a:ln/>
        </p:spPr>
        <p:txBody>
          <a:bodyPr wrap="square" lIns="0" tIns="0" rIns="0" bIns="0" rtlCol="0" anchor="ctr">
            <a:normAutofit/>
          </a:bodyPr>
          <a:lstStyle/>
          <a:p>
            <a:pPr algn="l" indent="0" marL="0">
              <a:lnSpc>
                <a:spcPct val="96000"/>
              </a:lnSpc>
              <a:buNone/>
            </a:pPr>
            <a:r>
              <a:rPr lang="en-US" sz="915" dirty="0">
                <a:solidFill>
                  <a:srgbClr val="71717E"/>
                </a:solidFill>
                <a:latin typeface="Ubuntu" pitchFamily="34" charset="0"/>
                <a:ea typeface="Ubuntu" pitchFamily="34" charset="-122"/>
                <a:cs typeface="Ubuntu" pitchFamily="34" charset="-120"/>
              </a:rPr>
              <a:t>Major escalation</a:t>
            </a:r>
            <a:endParaRPr lang="en-US" sz="915" dirty="0"/>
          </a:p>
        </p:txBody>
      </p:sp>
      <p:sp>
        <p:nvSpPr>
          <p:cNvPr id="53" name="Text 51"/>
          <p:cNvSpPr txBox="1"/>
          <p:nvPr/>
        </p:nvSpPr>
        <p:spPr>
          <a:xfrm>
            <a:off x="6117336" y="1801368"/>
            <a:ext cx="3328416" cy="153619"/>
          </a:xfrm>
          <a:prstGeom prst="rect">
            <a:avLst/>
          </a:prstGeom>
          <a:noFill/>
          <a:ln/>
        </p:spPr>
        <p:txBody>
          <a:bodyPr wrap="square" lIns="0" tIns="0" rIns="0" bIns="0" rtlCol="0" anchor="ctr">
            <a:normAutofit/>
          </a:bodyPr>
          <a:lstStyle/>
          <a:p>
            <a:pPr algn="r" indent="0" marL="0">
              <a:lnSpc>
                <a:spcPct val="96000"/>
              </a:lnSpc>
              <a:buNone/>
            </a:pPr>
            <a:r>
              <a:rPr lang="en-US" sz="770" dirty="0">
                <a:solidFill>
                  <a:srgbClr val="71717E"/>
                </a:solidFill>
                <a:latin typeface="Ubuntu" pitchFamily="34" charset="0"/>
                <a:ea typeface="Ubuntu" pitchFamily="34" charset="-122"/>
                <a:cs typeface="Ubuntu" pitchFamily="34" charset="-120"/>
              </a:rPr>
              <a:t>Order confirmed  ›  Fulfillment complete  ›  Customer need resolved</a:t>
            </a:r>
            <a:endParaRPr lang="en-US" sz="770" dirty="0"/>
          </a:p>
        </p:txBody>
      </p:sp>
      <p:sp>
        <p:nvSpPr>
          <p:cNvPr id="54" name="Shape 52"/>
          <p:cNvSpPr/>
          <p:nvPr/>
        </p:nvSpPr>
        <p:spPr>
          <a:xfrm>
            <a:off x="2907792" y="2033626"/>
            <a:ext cx="6629400" cy="0"/>
          </a:xfrm>
          <a:prstGeom prst="line">
            <a:avLst/>
          </a:prstGeom>
          <a:noFill/>
          <a:ln w="8255">
            <a:solidFill>
              <a:srgbClr val="DDDDE2"/>
            </a:solidFill>
            <a:prstDash val="solid"/>
            <a:headEnd type="none"/>
          </a:ln>
        </p:spPr>
      </p:sp>
      <p:sp>
        <p:nvSpPr>
          <p:cNvPr id="55" name="Shape 53"/>
          <p:cNvSpPr/>
          <p:nvPr/>
        </p:nvSpPr>
        <p:spPr>
          <a:xfrm>
            <a:off x="2903220" y="2057400"/>
            <a:ext cx="6643116" cy="1645920"/>
          </a:xfrm>
          <a:prstGeom prst="roundRect">
            <a:avLst>
              <a:gd name="adj" fmla="val 1389"/>
            </a:avLst>
          </a:prstGeom>
          <a:solidFill>
            <a:srgbClr val="F5F5F7"/>
          </a:solidFill>
          <a:ln w="12700">
            <a:solidFill>
              <a:srgbClr val="F5F5F7">
                <a:alpha val="0"/>
              </a:srgbClr>
            </a:solidFill>
            <a:prstDash val="solid"/>
          </a:ln>
        </p:spPr>
      </p:sp>
      <p:sp>
        <p:nvSpPr>
          <p:cNvPr id="56" name="Text 54"/>
          <p:cNvSpPr txBox="1"/>
          <p:nvPr/>
        </p:nvSpPr>
        <p:spPr>
          <a:xfrm>
            <a:off x="2966314" y="2084832"/>
            <a:ext cx="3648456" cy="232258"/>
          </a:xfrm>
          <a:prstGeom prst="rect">
            <a:avLst/>
          </a:prstGeom>
          <a:noFill/>
          <a:ln/>
        </p:spPr>
        <p:txBody>
          <a:bodyPr wrap="square" lIns="0" tIns="0" rIns="0" bIns="0" rtlCol="0" anchor="ctr">
            <a:normAutofit/>
          </a:bodyPr>
          <a:lstStyle/>
          <a:p>
            <a:pPr algn="l" indent="0" marL="0">
              <a:lnSpc>
                <a:spcPct val="96000"/>
              </a:lnSpc>
              <a:buNone/>
            </a:pPr>
            <a:r>
              <a:rPr lang="en-US" sz="1185" b="1" dirty="0">
                <a:solidFill>
                  <a:srgbClr val="2B0A3D"/>
                </a:solidFill>
                <a:latin typeface="Ubuntu" pitchFamily="34" charset="0"/>
                <a:ea typeface="Ubuntu" pitchFamily="34" charset="-122"/>
                <a:cs typeface="Ubuntu" pitchFamily="34" charset="-120"/>
              </a:rPr>
              <a:t>Before: human-led coordination</a:t>
            </a:r>
            <a:endParaRPr lang="en-US" sz="1185" dirty="0"/>
          </a:p>
        </p:txBody>
      </p:sp>
      <p:sp>
        <p:nvSpPr>
          <p:cNvPr id="57" name="Text 55"/>
          <p:cNvSpPr txBox="1"/>
          <p:nvPr/>
        </p:nvSpPr>
        <p:spPr>
          <a:xfrm>
            <a:off x="7841894" y="2116836"/>
            <a:ext cx="1583741" cy="126187"/>
          </a:xfrm>
          <a:prstGeom prst="rect">
            <a:avLst/>
          </a:prstGeom>
          <a:noFill/>
          <a:ln/>
        </p:spPr>
        <p:txBody>
          <a:bodyPr wrap="square" lIns="0" tIns="0" rIns="0" bIns="0" rtlCol="0" anchor="ctr">
            <a:normAutofit/>
          </a:bodyPr>
          <a:lstStyle/>
          <a:p>
            <a:pPr algn="r" indent="0" marL="0">
              <a:lnSpc>
                <a:spcPct val="96000"/>
              </a:lnSpc>
              <a:buNone/>
            </a:pPr>
            <a:r>
              <a:rPr lang="en-US" sz="800" dirty="0">
                <a:solidFill>
                  <a:srgbClr val="71717E"/>
                </a:solidFill>
                <a:latin typeface="Ubuntu" pitchFamily="34" charset="0"/>
                <a:ea typeface="Ubuntu" pitchFamily="34" charset="-122"/>
                <a:cs typeface="Ubuntu" pitchFamily="34" charset="-120"/>
              </a:rPr>
              <a:t>Rework across handoffs</a:t>
            </a:r>
            <a:endParaRPr lang="en-US" sz="800" dirty="0"/>
          </a:p>
        </p:txBody>
      </p:sp>
      <p:sp>
        <p:nvSpPr>
          <p:cNvPr id="58" name="Text 56"/>
          <p:cNvSpPr txBox="1"/>
          <p:nvPr/>
        </p:nvSpPr>
        <p:spPr>
          <a:xfrm>
            <a:off x="2959913" y="2407615"/>
            <a:ext cx="774497" cy="145390"/>
          </a:xfrm>
          <a:prstGeom prst="rect">
            <a:avLst/>
          </a:prstGeom>
          <a:noFill/>
          <a:ln/>
        </p:spPr>
        <p:txBody>
          <a:bodyPr wrap="square" lIns="0" tIns="0" rIns="0" bIns="0" rtlCol="0" anchor="ctr">
            <a:normAutofit/>
          </a:bodyPr>
          <a:lstStyle/>
          <a:p>
            <a:pPr algn="l" indent="0" marL="0">
              <a:lnSpc>
                <a:spcPct val="96000"/>
              </a:lnSpc>
              <a:buNone/>
            </a:pPr>
            <a:r>
              <a:rPr lang="en-US" sz="795" dirty="0">
                <a:solidFill>
                  <a:srgbClr val="34343D"/>
                </a:solidFill>
                <a:latin typeface="Ubuntu" pitchFamily="34" charset="0"/>
                <a:ea typeface="Ubuntu" pitchFamily="34" charset="-122"/>
                <a:cs typeface="Ubuntu" pitchFamily="34" charset="-120"/>
              </a:rPr>
              <a:t>Operations</a:t>
            </a:r>
            <a:endParaRPr lang="en-US" sz="795" dirty="0"/>
          </a:p>
        </p:txBody>
      </p:sp>
      <p:sp>
        <p:nvSpPr>
          <p:cNvPr id="59" name="Text 57"/>
          <p:cNvSpPr txBox="1"/>
          <p:nvPr/>
        </p:nvSpPr>
        <p:spPr>
          <a:xfrm>
            <a:off x="2959913" y="2663647"/>
            <a:ext cx="774497" cy="145390"/>
          </a:xfrm>
          <a:prstGeom prst="rect">
            <a:avLst/>
          </a:prstGeom>
          <a:noFill/>
          <a:ln/>
        </p:spPr>
        <p:txBody>
          <a:bodyPr wrap="square" lIns="0" tIns="0" rIns="0" bIns="0" rtlCol="0" anchor="ctr">
            <a:normAutofit/>
          </a:bodyPr>
          <a:lstStyle/>
          <a:p>
            <a:pPr algn="l" indent="0" marL="0">
              <a:lnSpc>
                <a:spcPct val="96000"/>
              </a:lnSpc>
              <a:buNone/>
            </a:pPr>
            <a:r>
              <a:rPr lang="en-US" sz="795" dirty="0">
                <a:solidFill>
                  <a:srgbClr val="34343D"/>
                </a:solidFill>
                <a:latin typeface="Ubuntu" pitchFamily="34" charset="0"/>
                <a:ea typeface="Ubuntu" pitchFamily="34" charset="-122"/>
                <a:cs typeface="Ubuntu" pitchFamily="34" charset="-120"/>
              </a:rPr>
              <a:t>Fulfillment</a:t>
            </a:r>
            <a:endParaRPr lang="en-US" sz="795" dirty="0"/>
          </a:p>
        </p:txBody>
      </p:sp>
      <p:sp>
        <p:nvSpPr>
          <p:cNvPr id="60" name="Text 58"/>
          <p:cNvSpPr txBox="1"/>
          <p:nvPr/>
        </p:nvSpPr>
        <p:spPr>
          <a:xfrm>
            <a:off x="2959913" y="2919679"/>
            <a:ext cx="774497" cy="145390"/>
          </a:xfrm>
          <a:prstGeom prst="rect">
            <a:avLst/>
          </a:prstGeom>
          <a:noFill/>
          <a:ln/>
        </p:spPr>
        <p:txBody>
          <a:bodyPr wrap="square" lIns="0" tIns="0" rIns="0" bIns="0" rtlCol="0" anchor="ctr">
            <a:normAutofit/>
          </a:bodyPr>
          <a:lstStyle/>
          <a:p>
            <a:pPr algn="l" indent="0" marL="0">
              <a:lnSpc>
                <a:spcPct val="96000"/>
              </a:lnSpc>
              <a:buNone/>
            </a:pPr>
            <a:r>
              <a:rPr lang="en-US" sz="795" dirty="0">
                <a:solidFill>
                  <a:srgbClr val="34343D"/>
                </a:solidFill>
                <a:latin typeface="Ubuntu" pitchFamily="34" charset="0"/>
                <a:ea typeface="Ubuntu" pitchFamily="34" charset="-122"/>
                <a:cs typeface="Ubuntu" pitchFamily="34" charset="-120"/>
              </a:rPr>
              <a:t>Customer care</a:t>
            </a:r>
            <a:endParaRPr lang="en-US" sz="795" dirty="0"/>
          </a:p>
        </p:txBody>
      </p:sp>
      <p:sp>
        <p:nvSpPr>
          <p:cNvPr id="61" name="Text 59"/>
          <p:cNvSpPr txBox="1"/>
          <p:nvPr/>
        </p:nvSpPr>
        <p:spPr>
          <a:xfrm>
            <a:off x="2959913" y="3175711"/>
            <a:ext cx="774497" cy="145390"/>
          </a:xfrm>
          <a:prstGeom prst="rect">
            <a:avLst/>
          </a:prstGeom>
          <a:noFill/>
          <a:ln/>
        </p:spPr>
        <p:txBody>
          <a:bodyPr wrap="square" lIns="0" tIns="0" rIns="0" bIns="0" rtlCol="0" anchor="ctr">
            <a:normAutofit/>
          </a:bodyPr>
          <a:lstStyle/>
          <a:p>
            <a:pPr algn="l" indent="0" marL="0">
              <a:lnSpc>
                <a:spcPct val="96000"/>
              </a:lnSpc>
              <a:buNone/>
            </a:pPr>
            <a:r>
              <a:rPr lang="en-US" sz="795" dirty="0">
                <a:solidFill>
                  <a:srgbClr val="34343D"/>
                </a:solidFill>
                <a:latin typeface="Ubuntu" pitchFamily="34" charset="0"/>
                <a:ea typeface="Ubuntu" pitchFamily="34" charset="-122"/>
                <a:cs typeface="Ubuntu" pitchFamily="34" charset="-120"/>
              </a:rPr>
              <a:t>Approvals</a:t>
            </a:r>
            <a:endParaRPr lang="en-US" sz="795" dirty="0"/>
          </a:p>
        </p:txBody>
      </p:sp>
      <p:sp>
        <p:nvSpPr>
          <p:cNvPr id="62" name="Shape 60"/>
          <p:cNvSpPr/>
          <p:nvPr/>
        </p:nvSpPr>
        <p:spPr>
          <a:xfrm>
            <a:off x="2959913" y="2585923"/>
            <a:ext cx="6492240" cy="0"/>
          </a:xfrm>
          <a:prstGeom prst="line">
            <a:avLst/>
          </a:prstGeom>
          <a:noFill/>
          <a:ln w="8255">
            <a:solidFill>
              <a:srgbClr val="DDDDE2"/>
            </a:solidFill>
            <a:prstDash val="solid"/>
            <a:headEnd type="none"/>
          </a:ln>
        </p:spPr>
      </p:sp>
      <p:sp>
        <p:nvSpPr>
          <p:cNvPr id="63" name="Shape 61"/>
          <p:cNvSpPr/>
          <p:nvPr/>
        </p:nvSpPr>
        <p:spPr>
          <a:xfrm>
            <a:off x="2959913" y="2842870"/>
            <a:ext cx="6492240" cy="0"/>
          </a:xfrm>
          <a:prstGeom prst="line">
            <a:avLst/>
          </a:prstGeom>
          <a:noFill/>
          <a:ln w="8255">
            <a:solidFill>
              <a:srgbClr val="DDDDE2"/>
            </a:solidFill>
            <a:prstDash val="solid"/>
            <a:headEnd type="none"/>
          </a:ln>
        </p:spPr>
      </p:sp>
      <p:sp>
        <p:nvSpPr>
          <p:cNvPr id="64" name="Shape 62"/>
          <p:cNvSpPr/>
          <p:nvPr/>
        </p:nvSpPr>
        <p:spPr>
          <a:xfrm>
            <a:off x="2959913" y="3099816"/>
            <a:ext cx="6492240" cy="0"/>
          </a:xfrm>
          <a:prstGeom prst="line">
            <a:avLst/>
          </a:prstGeom>
          <a:noFill/>
          <a:ln w="8255">
            <a:solidFill>
              <a:srgbClr val="DDDDE2"/>
            </a:solidFill>
            <a:prstDash val="solid"/>
            <a:headEnd type="none"/>
          </a:ln>
        </p:spPr>
      </p:sp>
      <p:sp>
        <p:nvSpPr>
          <p:cNvPr id="65" name="Shape 63"/>
          <p:cNvSpPr/>
          <p:nvPr/>
        </p:nvSpPr>
        <p:spPr>
          <a:xfrm>
            <a:off x="2959913" y="3354934"/>
            <a:ext cx="6492240" cy="0"/>
          </a:xfrm>
          <a:prstGeom prst="line">
            <a:avLst/>
          </a:prstGeom>
          <a:noFill/>
          <a:ln w="8255">
            <a:solidFill>
              <a:srgbClr val="DDDDE2"/>
            </a:solidFill>
            <a:prstDash val="solid"/>
            <a:headEnd type="none"/>
          </a:ln>
        </p:spPr>
      </p:sp>
      <p:sp>
        <p:nvSpPr>
          <p:cNvPr id="66" name="Shape 64"/>
          <p:cNvSpPr/>
          <p:nvPr/>
        </p:nvSpPr>
        <p:spPr>
          <a:xfrm>
            <a:off x="4509821" y="2588666"/>
            <a:ext cx="81839" cy="0"/>
          </a:xfrm>
          <a:prstGeom prst="line">
            <a:avLst/>
          </a:prstGeom>
          <a:noFill/>
          <a:ln w="14986">
            <a:solidFill>
              <a:srgbClr val="9A9AA6"/>
            </a:solidFill>
            <a:prstDash val="solid"/>
            <a:headEnd type="none"/>
          </a:ln>
        </p:spPr>
      </p:sp>
      <p:sp>
        <p:nvSpPr>
          <p:cNvPr id="67" name="Shape 65"/>
          <p:cNvSpPr/>
          <p:nvPr/>
        </p:nvSpPr>
        <p:spPr>
          <a:xfrm>
            <a:off x="4591660" y="2588666"/>
            <a:ext cx="0" cy="230429"/>
          </a:xfrm>
          <a:prstGeom prst="line">
            <a:avLst/>
          </a:prstGeom>
          <a:noFill/>
          <a:ln w="14986">
            <a:solidFill>
              <a:srgbClr val="9A9AA6"/>
            </a:solidFill>
            <a:prstDash val="solid"/>
            <a:headEnd type="none"/>
          </a:ln>
        </p:spPr>
      </p:sp>
      <p:sp>
        <p:nvSpPr>
          <p:cNvPr id="68" name="Shape 66"/>
          <p:cNvSpPr/>
          <p:nvPr/>
        </p:nvSpPr>
        <p:spPr>
          <a:xfrm>
            <a:off x="4591660" y="2819095"/>
            <a:ext cx="81839" cy="0"/>
          </a:xfrm>
          <a:prstGeom prst="line">
            <a:avLst/>
          </a:prstGeom>
          <a:noFill/>
          <a:ln w="14986">
            <a:solidFill>
              <a:srgbClr val="9A9AA6"/>
            </a:solidFill>
            <a:prstDash val="solid"/>
            <a:headEnd type="none"/>
            <a:tailEnd type="triangle"/>
          </a:ln>
        </p:spPr>
      </p:sp>
      <p:sp>
        <p:nvSpPr>
          <p:cNvPr id="69" name="Shape 67"/>
          <p:cNvSpPr/>
          <p:nvPr/>
        </p:nvSpPr>
        <p:spPr>
          <a:xfrm>
            <a:off x="5458968" y="2819095"/>
            <a:ext cx="87782" cy="0"/>
          </a:xfrm>
          <a:prstGeom prst="line">
            <a:avLst/>
          </a:prstGeom>
          <a:noFill/>
          <a:ln w="14986">
            <a:solidFill>
              <a:srgbClr val="9A9AA6"/>
            </a:solidFill>
            <a:prstDash val="solid"/>
            <a:headEnd type="none"/>
          </a:ln>
        </p:spPr>
      </p:sp>
      <p:sp>
        <p:nvSpPr>
          <p:cNvPr id="70" name="Shape 68"/>
          <p:cNvSpPr/>
          <p:nvPr/>
        </p:nvSpPr>
        <p:spPr>
          <a:xfrm>
            <a:off x="5546750" y="2819095"/>
            <a:ext cx="0" cy="0"/>
          </a:xfrm>
          <a:prstGeom prst="line">
            <a:avLst/>
          </a:prstGeom>
          <a:noFill/>
          <a:ln w="14986">
            <a:solidFill>
              <a:srgbClr val="9A9AA6"/>
            </a:solidFill>
            <a:prstDash val="solid"/>
            <a:headEnd type="none"/>
          </a:ln>
        </p:spPr>
      </p:sp>
      <p:sp>
        <p:nvSpPr>
          <p:cNvPr id="71" name="Shape 69"/>
          <p:cNvSpPr/>
          <p:nvPr/>
        </p:nvSpPr>
        <p:spPr>
          <a:xfrm>
            <a:off x="5546750" y="2819095"/>
            <a:ext cx="87782" cy="0"/>
          </a:xfrm>
          <a:prstGeom prst="line">
            <a:avLst/>
          </a:prstGeom>
          <a:noFill/>
          <a:ln w="14986">
            <a:solidFill>
              <a:srgbClr val="9A9AA6"/>
            </a:solidFill>
            <a:prstDash val="solid"/>
            <a:headEnd type="none"/>
            <a:tailEnd type="triangle"/>
          </a:ln>
        </p:spPr>
      </p:sp>
      <p:sp>
        <p:nvSpPr>
          <p:cNvPr id="72" name="Shape 70"/>
          <p:cNvSpPr/>
          <p:nvPr/>
        </p:nvSpPr>
        <p:spPr>
          <a:xfrm>
            <a:off x="6475781" y="2819095"/>
            <a:ext cx="90526" cy="0"/>
          </a:xfrm>
          <a:prstGeom prst="line">
            <a:avLst/>
          </a:prstGeom>
          <a:noFill/>
          <a:ln w="14986">
            <a:solidFill>
              <a:srgbClr val="9A9AA6"/>
            </a:solidFill>
            <a:prstDash val="solid"/>
            <a:headEnd type="none"/>
          </a:ln>
        </p:spPr>
      </p:sp>
      <p:sp>
        <p:nvSpPr>
          <p:cNvPr id="73" name="Shape 71"/>
          <p:cNvSpPr/>
          <p:nvPr/>
        </p:nvSpPr>
        <p:spPr>
          <a:xfrm>
            <a:off x="6566306" y="2819095"/>
            <a:ext cx="0" cy="0"/>
          </a:xfrm>
          <a:prstGeom prst="line">
            <a:avLst/>
          </a:prstGeom>
          <a:noFill/>
          <a:ln w="14986">
            <a:solidFill>
              <a:srgbClr val="9A9AA6"/>
            </a:solidFill>
            <a:prstDash val="solid"/>
            <a:headEnd type="none"/>
          </a:ln>
        </p:spPr>
      </p:sp>
      <p:sp>
        <p:nvSpPr>
          <p:cNvPr id="74" name="Shape 72"/>
          <p:cNvSpPr/>
          <p:nvPr/>
        </p:nvSpPr>
        <p:spPr>
          <a:xfrm>
            <a:off x="6566306" y="2819095"/>
            <a:ext cx="90526" cy="0"/>
          </a:xfrm>
          <a:prstGeom prst="line">
            <a:avLst/>
          </a:prstGeom>
          <a:noFill/>
          <a:ln w="14986">
            <a:solidFill>
              <a:srgbClr val="9A9AA6"/>
            </a:solidFill>
            <a:prstDash val="solid"/>
            <a:headEnd type="none"/>
            <a:tailEnd type="triangle"/>
          </a:ln>
        </p:spPr>
      </p:sp>
      <p:sp>
        <p:nvSpPr>
          <p:cNvPr id="75" name="Shape 73"/>
          <p:cNvSpPr/>
          <p:nvPr/>
        </p:nvSpPr>
        <p:spPr>
          <a:xfrm>
            <a:off x="7381951" y="2819095"/>
            <a:ext cx="93726" cy="0"/>
          </a:xfrm>
          <a:prstGeom prst="line">
            <a:avLst/>
          </a:prstGeom>
          <a:noFill/>
          <a:ln w="14986">
            <a:solidFill>
              <a:srgbClr val="9A9AA6"/>
            </a:solidFill>
            <a:prstDash val="solid"/>
            <a:headEnd type="none"/>
          </a:ln>
        </p:spPr>
      </p:sp>
      <p:sp>
        <p:nvSpPr>
          <p:cNvPr id="76" name="Shape 74"/>
          <p:cNvSpPr/>
          <p:nvPr/>
        </p:nvSpPr>
        <p:spPr>
          <a:xfrm>
            <a:off x="7475677" y="2819095"/>
            <a:ext cx="0" cy="229514"/>
          </a:xfrm>
          <a:prstGeom prst="line">
            <a:avLst/>
          </a:prstGeom>
          <a:noFill/>
          <a:ln w="14986">
            <a:solidFill>
              <a:srgbClr val="9A9AA6"/>
            </a:solidFill>
            <a:prstDash val="solid"/>
            <a:headEnd type="none"/>
          </a:ln>
        </p:spPr>
      </p:sp>
      <p:sp>
        <p:nvSpPr>
          <p:cNvPr id="77" name="Shape 75"/>
          <p:cNvSpPr/>
          <p:nvPr/>
        </p:nvSpPr>
        <p:spPr>
          <a:xfrm>
            <a:off x="7475677" y="3048610"/>
            <a:ext cx="93726" cy="0"/>
          </a:xfrm>
          <a:prstGeom prst="line">
            <a:avLst/>
          </a:prstGeom>
          <a:noFill/>
          <a:ln w="14986">
            <a:solidFill>
              <a:srgbClr val="9A9AA6"/>
            </a:solidFill>
            <a:prstDash val="solid"/>
            <a:headEnd type="none"/>
            <a:tailEnd type="triangle"/>
          </a:ln>
        </p:spPr>
      </p:sp>
      <p:sp>
        <p:nvSpPr>
          <p:cNvPr id="78" name="Shape 76"/>
          <p:cNvSpPr/>
          <p:nvPr/>
        </p:nvSpPr>
        <p:spPr>
          <a:xfrm>
            <a:off x="8410651" y="3048610"/>
            <a:ext cx="87782" cy="0"/>
          </a:xfrm>
          <a:prstGeom prst="line">
            <a:avLst/>
          </a:prstGeom>
          <a:noFill/>
          <a:ln w="14986">
            <a:solidFill>
              <a:srgbClr val="9A9AA6"/>
            </a:solidFill>
            <a:prstDash val="solid"/>
            <a:headEnd type="none"/>
          </a:ln>
        </p:spPr>
      </p:sp>
      <p:sp>
        <p:nvSpPr>
          <p:cNvPr id="79" name="Shape 77"/>
          <p:cNvSpPr/>
          <p:nvPr/>
        </p:nvSpPr>
        <p:spPr>
          <a:xfrm>
            <a:off x="8498434" y="3048610"/>
            <a:ext cx="0" cy="0"/>
          </a:xfrm>
          <a:prstGeom prst="line">
            <a:avLst/>
          </a:prstGeom>
          <a:noFill/>
          <a:ln w="14986">
            <a:solidFill>
              <a:srgbClr val="9A9AA6"/>
            </a:solidFill>
            <a:prstDash val="solid"/>
            <a:headEnd type="none"/>
          </a:ln>
        </p:spPr>
      </p:sp>
      <p:sp>
        <p:nvSpPr>
          <p:cNvPr id="80" name="Shape 78"/>
          <p:cNvSpPr/>
          <p:nvPr/>
        </p:nvSpPr>
        <p:spPr>
          <a:xfrm>
            <a:off x="8498434" y="3048610"/>
            <a:ext cx="87782" cy="0"/>
          </a:xfrm>
          <a:prstGeom prst="line">
            <a:avLst/>
          </a:prstGeom>
          <a:noFill/>
          <a:ln w="14986">
            <a:solidFill>
              <a:srgbClr val="9A9AA6"/>
            </a:solidFill>
            <a:prstDash val="solid"/>
            <a:headEnd type="none"/>
            <a:tailEnd type="triangle"/>
          </a:ln>
        </p:spPr>
      </p:sp>
      <p:sp>
        <p:nvSpPr>
          <p:cNvPr id="81" name="Shape 79"/>
          <p:cNvSpPr/>
          <p:nvPr/>
        </p:nvSpPr>
        <p:spPr>
          <a:xfrm>
            <a:off x="3807562" y="2387498"/>
            <a:ext cx="702259" cy="402336"/>
          </a:xfrm>
          <a:prstGeom prst="roundRect">
            <a:avLst>
              <a:gd name="adj" fmla="val 12500"/>
            </a:avLst>
          </a:prstGeom>
          <a:solidFill>
            <a:srgbClr val="FFFFFF"/>
          </a:solidFill>
          <a:ln w="12700">
            <a:solidFill>
              <a:srgbClr val="9A9AA6"/>
            </a:solidFill>
            <a:prstDash val="solid"/>
          </a:ln>
        </p:spPr>
      </p:sp>
      <p:sp>
        <p:nvSpPr>
          <p:cNvPr id="82" name="Text 80"/>
          <p:cNvSpPr txBox="1"/>
          <p:nvPr/>
        </p:nvSpPr>
        <p:spPr>
          <a:xfrm>
            <a:off x="3838651" y="2405786"/>
            <a:ext cx="640080" cy="365760"/>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Review</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order</a:t>
            </a:r>
            <a:endParaRPr lang="en-US" sz="855" dirty="0"/>
          </a:p>
        </p:txBody>
      </p:sp>
      <p:sp>
        <p:nvSpPr>
          <p:cNvPr id="83" name="Shape 81"/>
          <p:cNvSpPr/>
          <p:nvPr/>
        </p:nvSpPr>
        <p:spPr>
          <a:xfrm>
            <a:off x="4673498" y="2617927"/>
            <a:ext cx="785470" cy="402336"/>
          </a:xfrm>
          <a:prstGeom prst="roundRect">
            <a:avLst>
              <a:gd name="adj" fmla="val 12500"/>
            </a:avLst>
          </a:prstGeom>
          <a:solidFill>
            <a:srgbClr val="FFFFFF"/>
          </a:solidFill>
          <a:ln w="12700">
            <a:solidFill>
              <a:srgbClr val="9A9AA6"/>
            </a:solidFill>
            <a:prstDash val="solid"/>
          </a:ln>
        </p:spPr>
      </p:sp>
      <p:sp>
        <p:nvSpPr>
          <p:cNvPr id="84" name="Text 82"/>
          <p:cNvSpPr txBox="1"/>
          <p:nvPr/>
        </p:nvSpPr>
        <p:spPr>
          <a:xfrm>
            <a:off x="4704588" y="2636215"/>
            <a:ext cx="723290" cy="365760"/>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Check</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availability</a:t>
            </a:r>
            <a:endParaRPr lang="en-US" sz="855" dirty="0"/>
          </a:p>
        </p:txBody>
      </p:sp>
      <p:sp>
        <p:nvSpPr>
          <p:cNvPr id="85" name="Shape 83"/>
          <p:cNvSpPr/>
          <p:nvPr/>
        </p:nvSpPr>
        <p:spPr>
          <a:xfrm>
            <a:off x="5634533" y="2617927"/>
            <a:ext cx="841248" cy="402336"/>
          </a:xfrm>
          <a:prstGeom prst="roundRect">
            <a:avLst>
              <a:gd name="adj" fmla="val 12500"/>
            </a:avLst>
          </a:prstGeom>
          <a:solidFill>
            <a:srgbClr val="FFFFFF"/>
          </a:solidFill>
          <a:ln w="12700">
            <a:solidFill>
              <a:srgbClr val="9A9AA6"/>
            </a:solidFill>
            <a:prstDash val="solid"/>
          </a:ln>
        </p:spPr>
      </p:sp>
      <p:sp>
        <p:nvSpPr>
          <p:cNvPr id="86" name="Text 84"/>
          <p:cNvSpPr txBox="1"/>
          <p:nvPr/>
        </p:nvSpPr>
        <p:spPr>
          <a:xfrm>
            <a:off x="5665622" y="2636215"/>
            <a:ext cx="779069" cy="365760"/>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Coordinate</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delivery</a:t>
            </a:r>
            <a:endParaRPr lang="en-US" sz="855" dirty="0"/>
          </a:p>
        </p:txBody>
      </p:sp>
      <p:sp>
        <p:nvSpPr>
          <p:cNvPr id="87" name="Shape 85"/>
          <p:cNvSpPr/>
          <p:nvPr/>
        </p:nvSpPr>
        <p:spPr>
          <a:xfrm>
            <a:off x="6656832" y="2617927"/>
            <a:ext cx="725119" cy="402336"/>
          </a:xfrm>
          <a:prstGeom prst="roundRect">
            <a:avLst>
              <a:gd name="adj" fmla="val 12500"/>
            </a:avLst>
          </a:prstGeom>
          <a:solidFill>
            <a:srgbClr val="FFFFFF"/>
          </a:solidFill>
          <a:ln w="12700">
            <a:solidFill>
              <a:srgbClr val="9A9AA6"/>
            </a:solidFill>
            <a:prstDash val="solid"/>
          </a:ln>
        </p:spPr>
      </p:sp>
      <p:sp>
        <p:nvSpPr>
          <p:cNvPr id="88" name="Text 86"/>
          <p:cNvSpPr txBox="1"/>
          <p:nvPr/>
        </p:nvSpPr>
        <p:spPr>
          <a:xfrm>
            <a:off x="6687922" y="2636215"/>
            <a:ext cx="662940" cy="365760"/>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Chase</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status</a:t>
            </a:r>
            <a:endParaRPr lang="en-US" sz="855" dirty="0"/>
          </a:p>
        </p:txBody>
      </p:sp>
      <p:sp>
        <p:nvSpPr>
          <p:cNvPr id="89" name="Shape 87"/>
          <p:cNvSpPr/>
          <p:nvPr/>
        </p:nvSpPr>
        <p:spPr>
          <a:xfrm>
            <a:off x="7569403" y="2847442"/>
            <a:ext cx="841248" cy="402336"/>
          </a:xfrm>
          <a:prstGeom prst="roundRect">
            <a:avLst>
              <a:gd name="adj" fmla="val 12500"/>
            </a:avLst>
          </a:prstGeom>
          <a:solidFill>
            <a:srgbClr val="FFFFFF"/>
          </a:solidFill>
          <a:ln w="12700">
            <a:solidFill>
              <a:srgbClr val="9A9AA6"/>
            </a:solidFill>
            <a:prstDash val="solid"/>
          </a:ln>
        </p:spPr>
      </p:sp>
      <p:sp>
        <p:nvSpPr>
          <p:cNvPr id="90" name="Text 88"/>
          <p:cNvSpPr txBox="1"/>
          <p:nvPr/>
        </p:nvSpPr>
        <p:spPr>
          <a:xfrm>
            <a:off x="7600493" y="2865730"/>
            <a:ext cx="779069" cy="365760"/>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Rebuild case</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context</a:t>
            </a:r>
            <a:endParaRPr lang="en-US" sz="855" dirty="0"/>
          </a:p>
        </p:txBody>
      </p:sp>
      <p:sp>
        <p:nvSpPr>
          <p:cNvPr id="91" name="Shape 89"/>
          <p:cNvSpPr/>
          <p:nvPr/>
        </p:nvSpPr>
        <p:spPr>
          <a:xfrm>
            <a:off x="8586216" y="2847442"/>
            <a:ext cx="876910" cy="402336"/>
          </a:xfrm>
          <a:prstGeom prst="roundRect">
            <a:avLst>
              <a:gd name="adj" fmla="val 12500"/>
            </a:avLst>
          </a:prstGeom>
          <a:solidFill>
            <a:srgbClr val="FFFFFF"/>
          </a:solidFill>
          <a:ln w="12700">
            <a:solidFill>
              <a:srgbClr val="9A9AA6"/>
            </a:solidFill>
            <a:prstDash val="solid"/>
          </a:ln>
        </p:spPr>
      </p:sp>
      <p:sp>
        <p:nvSpPr>
          <p:cNvPr id="92" name="Text 90"/>
          <p:cNvSpPr txBox="1"/>
          <p:nvPr/>
        </p:nvSpPr>
        <p:spPr>
          <a:xfrm>
            <a:off x="8617306" y="2865730"/>
            <a:ext cx="814730" cy="365760"/>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Resolve and</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approve</a:t>
            </a:r>
            <a:endParaRPr lang="en-US" sz="855" dirty="0"/>
          </a:p>
        </p:txBody>
      </p:sp>
      <p:sp>
        <p:nvSpPr>
          <p:cNvPr id="93" name="Shape 91"/>
          <p:cNvSpPr/>
          <p:nvPr/>
        </p:nvSpPr>
        <p:spPr>
          <a:xfrm>
            <a:off x="3884371" y="3534156"/>
            <a:ext cx="60350" cy="60350"/>
          </a:xfrm>
          <a:prstGeom prst="ellipse">
            <a:avLst/>
          </a:prstGeom>
          <a:solidFill>
            <a:srgbClr val="F53B53"/>
          </a:solidFill>
          <a:ln w="12700">
            <a:solidFill>
              <a:srgbClr val="F53B53">
                <a:alpha val="0"/>
              </a:srgbClr>
            </a:solidFill>
            <a:prstDash val="solid"/>
          </a:ln>
        </p:spPr>
      </p:sp>
      <p:sp>
        <p:nvSpPr>
          <p:cNvPr id="94" name="Text 92"/>
          <p:cNvSpPr txBox="1"/>
          <p:nvPr/>
        </p:nvSpPr>
        <p:spPr>
          <a:xfrm>
            <a:off x="3996842" y="3500323"/>
            <a:ext cx="1536192" cy="137160"/>
          </a:xfrm>
          <a:prstGeom prst="rect">
            <a:avLst/>
          </a:prstGeom>
          <a:noFill/>
          <a:ln/>
        </p:spPr>
        <p:txBody>
          <a:bodyPr wrap="square" lIns="0" tIns="0" rIns="0" bIns="0" rtlCol="0" anchor="ctr">
            <a:normAutofit/>
          </a:bodyPr>
          <a:lstStyle/>
          <a:p>
            <a:pPr algn="l" indent="0" marL="0">
              <a:lnSpc>
                <a:spcPct val="96000"/>
              </a:lnSpc>
              <a:buNone/>
            </a:pPr>
            <a:r>
              <a:rPr lang="en-US" sz="825" dirty="0">
                <a:solidFill>
                  <a:srgbClr val="34343D"/>
                </a:solidFill>
                <a:latin typeface="Ubuntu" pitchFamily="34" charset="0"/>
                <a:ea typeface="Ubuntu" pitchFamily="34" charset="-122"/>
                <a:cs typeface="Ubuntu" pitchFamily="34" charset="-120"/>
              </a:rPr>
              <a:t>Manual handoffs</a:t>
            </a:r>
            <a:endParaRPr lang="en-US" sz="825" dirty="0"/>
          </a:p>
        </p:txBody>
      </p:sp>
      <p:sp>
        <p:nvSpPr>
          <p:cNvPr id="95" name="Shape 93"/>
          <p:cNvSpPr/>
          <p:nvPr/>
        </p:nvSpPr>
        <p:spPr>
          <a:xfrm>
            <a:off x="5702198" y="3534156"/>
            <a:ext cx="60350" cy="60350"/>
          </a:xfrm>
          <a:prstGeom prst="ellipse">
            <a:avLst/>
          </a:prstGeom>
          <a:solidFill>
            <a:srgbClr val="F53B53"/>
          </a:solidFill>
          <a:ln w="12700">
            <a:solidFill>
              <a:srgbClr val="F53B53">
                <a:alpha val="0"/>
              </a:srgbClr>
            </a:solidFill>
            <a:prstDash val="solid"/>
          </a:ln>
        </p:spPr>
      </p:sp>
      <p:sp>
        <p:nvSpPr>
          <p:cNvPr id="96" name="Text 94"/>
          <p:cNvSpPr txBox="1"/>
          <p:nvPr/>
        </p:nvSpPr>
        <p:spPr>
          <a:xfrm>
            <a:off x="5814670" y="3500323"/>
            <a:ext cx="1536192" cy="137160"/>
          </a:xfrm>
          <a:prstGeom prst="rect">
            <a:avLst/>
          </a:prstGeom>
          <a:noFill/>
          <a:ln/>
        </p:spPr>
        <p:txBody>
          <a:bodyPr wrap="square" lIns="0" tIns="0" rIns="0" bIns="0" rtlCol="0" anchor="ctr">
            <a:normAutofit/>
          </a:bodyPr>
          <a:lstStyle/>
          <a:p>
            <a:pPr algn="l" indent="0" marL="0">
              <a:lnSpc>
                <a:spcPct val="96000"/>
              </a:lnSpc>
              <a:buNone/>
            </a:pPr>
            <a:r>
              <a:rPr lang="en-US" sz="825" dirty="0">
                <a:solidFill>
                  <a:srgbClr val="34343D"/>
                </a:solidFill>
                <a:latin typeface="Ubuntu" pitchFamily="34" charset="0"/>
                <a:ea typeface="Ubuntu" pitchFamily="34" charset="-122"/>
                <a:cs typeface="Ubuntu" pitchFamily="34" charset="-120"/>
              </a:rPr>
              <a:t>Repeated checks</a:t>
            </a:r>
            <a:endParaRPr lang="en-US" sz="825" dirty="0"/>
          </a:p>
        </p:txBody>
      </p:sp>
      <p:sp>
        <p:nvSpPr>
          <p:cNvPr id="97" name="Shape 95"/>
          <p:cNvSpPr/>
          <p:nvPr/>
        </p:nvSpPr>
        <p:spPr>
          <a:xfrm>
            <a:off x="7737653" y="3534156"/>
            <a:ext cx="60350" cy="60350"/>
          </a:xfrm>
          <a:prstGeom prst="ellipse">
            <a:avLst/>
          </a:prstGeom>
          <a:solidFill>
            <a:srgbClr val="F53B53"/>
          </a:solidFill>
          <a:ln w="12700">
            <a:solidFill>
              <a:srgbClr val="F53B53">
                <a:alpha val="0"/>
              </a:srgbClr>
            </a:solidFill>
            <a:prstDash val="solid"/>
          </a:ln>
        </p:spPr>
      </p:sp>
      <p:sp>
        <p:nvSpPr>
          <p:cNvPr id="98" name="Text 96"/>
          <p:cNvSpPr txBox="1"/>
          <p:nvPr/>
        </p:nvSpPr>
        <p:spPr>
          <a:xfrm>
            <a:off x="7850124" y="3500323"/>
            <a:ext cx="1536192" cy="137160"/>
          </a:xfrm>
          <a:prstGeom prst="rect">
            <a:avLst/>
          </a:prstGeom>
          <a:noFill/>
          <a:ln/>
        </p:spPr>
        <p:txBody>
          <a:bodyPr wrap="square" lIns="0" tIns="0" rIns="0" bIns="0" rtlCol="0" anchor="ctr">
            <a:normAutofit/>
          </a:bodyPr>
          <a:lstStyle/>
          <a:p>
            <a:pPr algn="l" indent="0" marL="0">
              <a:lnSpc>
                <a:spcPct val="96000"/>
              </a:lnSpc>
              <a:buNone/>
            </a:pPr>
            <a:r>
              <a:rPr lang="en-US" sz="825" dirty="0">
                <a:solidFill>
                  <a:srgbClr val="34343D"/>
                </a:solidFill>
                <a:latin typeface="Ubuntu" pitchFamily="34" charset="0"/>
                <a:ea typeface="Ubuntu" pitchFamily="34" charset="-122"/>
                <a:cs typeface="Ubuntu" pitchFamily="34" charset="-120"/>
              </a:rPr>
              <a:t>Fragmented context</a:t>
            </a:r>
            <a:endParaRPr lang="en-US" sz="825" dirty="0"/>
          </a:p>
        </p:txBody>
      </p:sp>
      <p:sp>
        <p:nvSpPr>
          <p:cNvPr id="99" name="Shape 97"/>
          <p:cNvSpPr/>
          <p:nvPr/>
        </p:nvSpPr>
        <p:spPr>
          <a:xfrm>
            <a:off x="2907792" y="3736238"/>
            <a:ext cx="6638544" cy="0"/>
          </a:xfrm>
          <a:prstGeom prst="line">
            <a:avLst/>
          </a:prstGeom>
          <a:noFill/>
          <a:ln w="8255">
            <a:solidFill>
              <a:srgbClr val="DDDDE2"/>
            </a:solidFill>
            <a:prstDash val="solid"/>
            <a:headEnd type="none"/>
          </a:ln>
        </p:spPr>
      </p:sp>
      <p:sp>
        <p:nvSpPr>
          <p:cNvPr id="100" name="Text 98"/>
          <p:cNvSpPr txBox="1"/>
          <p:nvPr/>
        </p:nvSpPr>
        <p:spPr>
          <a:xfrm>
            <a:off x="2966314" y="3809390"/>
            <a:ext cx="4343400" cy="235915"/>
          </a:xfrm>
          <a:prstGeom prst="rect">
            <a:avLst/>
          </a:prstGeom>
          <a:noFill/>
          <a:ln/>
        </p:spPr>
        <p:txBody>
          <a:bodyPr wrap="square" lIns="0" tIns="0" rIns="0" bIns="0" rtlCol="0" anchor="ctr">
            <a:normAutofit/>
          </a:bodyPr>
          <a:lstStyle/>
          <a:p>
            <a:pPr algn="l" indent="0" marL="0">
              <a:lnSpc>
                <a:spcPct val="96000"/>
              </a:lnSpc>
              <a:buNone/>
            </a:pPr>
            <a:r>
              <a:rPr lang="en-US" sz="1185" b="1" dirty="0">
                <a:solidFill>
                  <a:srgbClr val="0070AD"/>
                </a:solidFill>
                <a:latin typeface="Ubuntu" pitchFamily="34" charset="0"/>
                <a:ea typeface="Ubuntu" pitchFamily="34" charset="-122"/>
                <a:cs typeface="Ubuntu" pitchFamily="34" charset="-120"/>
              </a:rPr>
              <a:t>After: supervised AI and automation</a:t>
            </a:r>
            <a:endParaRPr lang="en-US" sz="1185" dirty="0"/>
          </a:p>
        </p:txBody>
      </p:sp>
      <p:sp>
        <p:nvSpPr>
          <p:cNvPr id="101" name="Text 99"/>
          <p:cNvSpPr txBox="1"/>
          <p:nvPr/>
        </p:nvSpPr>
        <p:spPr>
          <a:xfrm>
            <a:off x="5522062" y="3840480"/>
            <a:ext cx="3932834" cy="146304"/>
          </a:xfrm>
          <a:prstGeom prst="rect">
            <a:avLst/>
          </a:prstGeom>
          <a:noFill/>
          <a:ln/>
        </p:spPr>
        <p:txBody>
          <a:bodyPr wrap="square" lIns="0" tIns="0" rIns="0" bIns="0" rtlCol="0" anchor="ctr">
            <a:normAutofit/>
          </a:bodyPr>
          <a:lstStyle/>
          <a:p>
            <a:pPr algn="r" indent="0" marL="0">
              <a:lnSpc>
                <a:spcPct val="96000"/>
              </a:lnSpc>
              <a:buNone/>
            </a:pPr>
            <a:r>
              <a:rPr lang="en-US" sz="800" dirty="0">
                <a:solidFill>
                  <a:srgbClr val="71717E"/>
                </a:solidFill>
                <a:latin typeface="Ubuntu" pitchFamily="34" charset="0"/>
                <a:ea typeface="Ubuntu" pitchFamily="34" charset="-122"/>
                <a:cs typeface="Ubuntu" pitchFamily="34" charset="-120"/>
              </a:rPr>
              <a:t>Fewer status checks  ·  Preserved context  ·  Human control retained</a:t>
            </a:r>
            <a:endParaRPr lang="en-US" sz="800" dirty="0"/>
          </a:p>
        </p:txBody>
      </p:sp>
      <p:sp>
        <p:nvSpPr>
          <p:cNvPr id="102" name="Text 100"/>
          <p:cNvSpPr txBox="1"/>
          <p:nvPr/>
        </p:nvSpPr>
        <p:spPr>
          <a:xfrm>
            <a:off x="2960827" y="4160520"/>
            <a:ext cx="779069" cy="155448"/>
          </a:xfrm>
          <a:prstGeom prst="rect">
            <a:avLst/>
          </a:prstGeom>
          <a:noFill/>
          <a:ln/>
        </p:spPr>
        <p:txBody>
          <a:bodyPr wrap="square" lIns="0" tIns="0" rIns="0" bIns="0" rtlCol="0" anchor="ctr">
            <a:normAutofit/>
          </a:bodyPr>
          <a:lstStyle/>
          <a:p>
            <a:pPr algn="l" indent="0" marL="0">
              <a:lnSpc>
                <a:spcPct val="96000"/>
              </a:lnSpc>
              <a:buNone/>
            </a:pPr>
            <a:r>
              <a:rPr lang="en-US" sz="789" dirty="0">
                <a:solidFill>
                  <a:srgbClr val="34343D"/>
                </a:solidFill>
                <a:latin typeface="Ubuntu" pitchFamily="34" charset="0"/>
                <a:ea typeface="Ubuntu" pitchFamily="34" charset="-122"/>
                <a:cs typeface="Ubuntu" pitchFamily="34" charset="-120"/>
              </a:rPr>
              <a:t>Rules &amp; systems</a:t>
            </a:r>
            <a:endParaRPr lang="en-US" sz="789" dirty="0"/>
          </a:p>
        </p:txBody>
      </p:sp>
      <p:sp>
        <p:nvSpPr>
          <p:cNvPr id="103" name="Text 101"/>
          <p:cNvSpPr txBox="1"/>
          <p:nvPr/>
        </p:nvSpPr>
        <p:spPr>
          <a:xfrm>
            <a:off x="2960827" y="4418381"/>
            <a:ext cx="779069" cy="155448"/>
          </a:xfrm>
          <a:prstGeom prst="rect">
            <a:avLst/>
          </a:prstGeom>
          <a:noFill/>
          <a:ln/>
        </p:spPr>
        <p:txBody>
          <a:bodyPr wrap="square" lIns="0" tIns="0" rIns="0" bIns="0" rtlCol="0" anchor="ctr">
            <a:normAutofit/>
          </a:bodyPr>
          <a:lstStyle/>
          <a:p>
            <a:pPr algn="l" indent="0" marL="0">
              <a:lnSpc>
                <a:spcPct val="96000"/>
              </a:lnSpc>
              <a:buNone/>
            </a:pPr>
            <a:r>
              <a:rPr lang="en-US" sz="789" dirty="0">
                <a:solidFill>
                  <a:srgbClr val="34343D"/>
                </a:solidFill>
                <a:latin typeface="Ubuntu" pitchFamily="34" charset="0"/>
                <a:ea typeface="Ubuntu" pitchFamily="34" charset="-122"/>
                <a:cs typeface="Ubuntu" pitchFamily="34" charset="-120"/>
              </a:rPr>
              <a:t>AI-assisted work</a:t>
            </a:r>
            <a:endParaRPr lang="en-US" sz="789" dirty="0"/>
          </a:p>
        </p:txBody>
      </p:sp>
      <p:sp>
        <p:nvSpPr>
          <p:cNvPr id="104" name="Text 102"/>
          <p:cNvSpPr txBox="1"/>
          <p:nvPr/>
        </p:nvSpPr>
        <p:spPr>
          <a:xfrm>
            <a:off x="2960827" y="4676242"/>
            <a:ext cx="779069" cy="155448"/>
          </a:xfrm>
          <a:prstGeom prst="rect">
            <a:avLst/>
          </a:prstGeom>
          <a:noFill/>
          <a:ln/>
        </p:spPr>
        <p:txBody>
          <a:bodyPr wrap="square" lIns="0" tIns="0" rIns="0" bIns="0" rtlCol="0" anchor="ctr">
            <a:normAutofit/>
          </a:bodyPr>
          <a:lstStyle/>
          <a:p>
            <a:pPr algn="l" indent="0" marL="0">
              <a:lnSpc>
                <a:spcPct val="96000"/>
              </a:lnSpc>
              <a:buNone/>
            </a:pPr>
            <a:r>
              <a:rPr lang="en-US" sz="789" dirty="0">
                <a:solidFill>
                  <a:srgbClr val="34343D"/>
                </a:solidFill>
                <a:latin typeface="Ubuntu" pitchFamily="34" charset="0"/>
                <a:ea typeface="Ubuntu" pitchFamily="34" charset="-122"/>
                <a:cs typeface="Ubuntu" pitchFamily="34" charset="-120"/>
              </a:rPr>
              <a:t>Human authorization</a:t>
            </a:r>
            <a:endParaRPr lang="en-US" sz="789" dirty="0"/>
          </a:p>
        </p:txBody>
      </p:sp>
      <p:sp>
        <p:nvSpPr>
          <p:cNvPr id="105" name="Text 103"/>
          <p:cNvSpPr txBox="1"/>
          <p:nvPr/>
        </p:nvSpPr>
        <p:spPr>
          <a:xfrm>
            <a:off x="2960827" y="4934102"/>
            <a:ext cx="779069" cy="155448"/>
          </a:xfrm>
          <a:prstGeom prst="rect">
            <a:avLst/>
          </a:prstGeom>
          <a:noFill/>
          <a:ln/>
        </p:spPr>
        <p:txBody>
          <a:bodyPr wrap="square" lIns="0" tIns="0" rIns="0" bIns="0" rtlCol="0" anchor="ctr">
            <a:normAutofit/>
          </a:bodyPr>
          <a:lstStyle/>
          <a:p>
            <a:pPr algn="l" indent="0" marL="0">
              <a:lnSpc>
                <a:spcPct val="96000"/>
              </a:lnSpc>
              <a:buNone/>
            </a:pPr>
            <a:r>
              <a:rPr lang="en-US" sz="789" dirty="0">
                <a:solidFill>
                  <a:srgbClr val="34343D"/>
                </a:solidFill>
                <a:latin typeface="Ubuntu" pitchFamily="34" charset="0"/>
                <a:ea typeface="Ubuntu" pitchFamily="34" charset="-122"/>
                <a:cs typeface="Ubuntu" pitchFamily="34" charset="-120"/>
              </a:rPr>
              <a:t>Physical fulfillment</a:t>
            </a:r>
            <a:endParaRPr lang="en-US" sz="789" dirty="0"/>
          </a:p>
        </p:txBody>
      </p:sp>
      <p:sp>
        <p:nvSpPr>
          <p:cNvPr id="106" name="Shape 104"/>
          <p:cNvSpPr/>
          <p:nvPr/>
        </p:nvSpPr>
        <p:spPr>
          <a:xfrm>
            <a:off x="2960827" y="4369003"/>
            <a:ext cx="6494069" cy="0"/>
          </a:xfrm>
          <a:prstGeom prst="line">
            <a:avLst/>
          </a:prstGeom>
          <a:noFill/>
          <a:ln w="8255">
            <a:solidFill>
              <a:srgbClr val="DDDDE2"/>
            </a:solidFill>
            <a:prstDash val="solid"/>
            <a:headEnd type="none"/>
          </a:ln>
        </p:spPr>
      </p:sp>
      <p:sp>
        <p:nvSpPr>
          <p:cNvPr id="107" name="Shape 105"/>
          <p:cNvSpPr/>
          <p:nvPr/>
        </p:nvSpPr>
        <p:spPr>
          <a:xfrm>
            <a:off x="2960827" y="4626864"/>
            <a:ext cx="6494069" cy="0"/>
          </a:xfrm>
          <a:prstGeom prst="line">
            <a:avLst/>
          </a:prstGeom>
          <a:noFill/>
          <a:ln w="8255">
            <a:solidFill>
              <a:srgbClr val="DDDDE2"/>
            </a:solidFill>
            <a:prstDash val="solid"/>
            <a:headEnd type="none"/>
          </a:ln>
        </p:spPr>
      </p:sp>
      <p:sp>
        <p:nvSpPr>
          <p:cNvPr id="108" name="Shape 106"/>
          <p:cNvSpPr/>
          <p:nvPr/>
        </p:nvSpPr>
        <p:spPr>
          <a:xfrm>
            <a:off x="2960827" y="4884725"/>
            <a:ext cx="6494069" cy="0"/>
          </a:xfrm>
          <a:prstGeom prst="line">
            <a:avLst/>
          </a:prstGeom>
          <a:noFill/>
          <a:ln w="8255">
            <a:solidFill>
              <a:srgbClr val="DDDDE2"/>
            </a:solidFill>
            <a:prstDash val="solid"/>
            <a:headEnd type="none"/>
          </a:ln>
        </p:spPr>
      </p:sp>
      <p:sp>
        <p:nvSpPr>
          <p:cNvPr id="109" name="Shape 107"/>
          <p:cNvSpPr/>
          <p:nvPr/>
        </p:nvSpPr>
        <p:spPr>
          <a:xfrm>
            <a:off x="2960827" y="5142586"/>
            <a:ext cx="6494069" cy="0"/>
          </a:xfrm>
          <a:prstGeom prst="line">
            <a:avLst/>
          </a:prstGeom>
          <a:noFill/>
          <a:ln w="8255">
            <a:solidFill>
              <a:srgbClr val="DDDDE2"/>
            </a:solidFill>
            <a:prstDash val="solid"/>
            <a:headEnd type="none"/>
          </a:ln>
        </p:spPr>
      </p:sp>
      <p:sp>
        <p:nvSpPr>
          <p:cNvPr id="110" name="Shape 108"/>
          <p:cNvSpPr/>
          <p:nvPr/>
        </p:nvSpPr>
        <p:spPr>
          <a:xfrm>
            <a:off x="4572000" y="4328770"/>
            <a:ext cx="87782" cy="0"/>
          </a:xfrm>
          <a:prstGeom prst="line">
            <a:avLst/>
          </a:prstGeom>
          <a:noFill/>
          <a:ln w="17526">
            <a:solidFill>
              <a:srgbClr val="0070AD"/>
            </a:solidFill>
            <a:prstDash val="solid"/>
            <a:headEnd type="none"/>
          </a:ln>
        </p:spPr>
      </p:sp>
      <p:sp>
        <p:nvSpPr>
          <p:cNvPr id="111" name="Shape 109"/>
          <p:cNvSpPr/>
          <p:nvPr/>
        </p:nvSpPr>
        <p:spPr>
          <a:xfrm>
            <a:off x="4659782" y="4328770"/>
            <a:ext cx="0" cy="256032"/>
          </a:xfrm>
          <a:prstGeom prst="line">
            <a:avLst/>
          </a:prstGeom>
          <a:noFill/>
          <a:ln w="17526">
            <a:solidFill>
              <a:srgbClr val="0070AD"/>
            </a:solidFill>
            <a:prstDash val="solid"/>
            <a:headEnd type="none"/>
          </a:ln>
        </p:spPr>
      </p:sp>
      <p:sp>
        <p:nvSpPr>
          <p:cNvPr id="112" name="Shape 110"/>
          <p:cNvSpPr/>
          <p:nvPr/>
        </p:nvSpPr>
        <p:spPr>
          <a:xfrm>
            <a:off x="4659782" y="4584802"/>
            <a:ext cx="87782" cy="0"/>
          </a:xfrm>
          <a:prstGeom prst="line">
            <a:avLst/>
          </a:prstGeom>
          <a:noFill/>
          <a:ln w="17526">
            <a:solidFill>
              <a:srgbClr val="0070AD"/>
            </a:solidFill>
            <a:prstDash val="solid"/>
            <a:headEnd type="none"/>
            <a:tailEnd type="triangle"/>
          </a:ln>
        </p:spPr>
      </p:sp>
      <p:sp>
        <p:nvSpPr>
          <p:cNvPr id="113" name="Shape 111"/>
          <p:cNvSpPr/>
          <p:nvPr/>
        </p:nvSpPr>
        <p:spPr>
          <a:xfrm>
            <a:off x="5568696" y="4584802"/>
            <a:ext cx="88240" cy="0"/>
          </a:xfrm>
          <a:prstGeom prst="line">
            <a:avLst/>
          </a:prstGeom>
          <a:noFill/>
          <a:ln w="17526">
            <a:solidFill>
              <a:srgbClr val="0070AD"/>
            </a:solidFill>
            <a:prstDash val="solid"/>
            <a:headEnd type="none"/>
          </a:ln>
        </p:spPr>
      </p:sp>
      <p:sp>
        <p:nvSpPr>
          <p:cNvPr id="114" name="Shape 112"/>
          <p:cNvSpPr/>
          <p:nvPr/>
        </p:nvSpPr>
        <p:spPr>
          <a:xfrm>
            <a:off x="5656936" y="4584802"/>
            <a:ext cx="0" cy="253289"/>
          </a:xfrm>
          <a:prstGeom prst="line">
            <a:avLst/>
          </a:prstGeom>
          <a:noFill/>
          <a:ln w="17526">
            <a:solidFill>
              <a:srgbClr val="0070AD"/>
            </a:solidFill>
            <a:prstDash val="solid"/>
            <a:headEnd type="none"/>
          </a:ln>
        </p:spPr>
      </p:sp>
      <p:sp>
        <p:nvSpPr>
          <p:cNvPr id="115" name="Shape 113"/>
          <p:cNvSpPr/>
          <p:nvPr/>
        </p:nvSpPr>
        <p:spPr>
          <a:xfrm>
            <a:off x="5656936" y="4838090"/>
            <a:ext cx="88240" cy="0"/>
          </a:xfrm>
          <a:prstGeom prst="line">
            <a:avLst/>
          </a:prstGeom>
          <a:noFill/>
          <a:ln w="17526">
            <a:solidFill>
              <a:srgbClr val="0070AD"/>
            </a:solidFill>
            <a:prstDash val="solid"/>
            <a:headEnd type="none"/>
            <a:tailEnd type="triangle"/>
          </a:ln>
        </p:spPr>
      </p:sp>
      <p:sp>
        <p:nvSpPr>
          <p:cNvPr id="116" name="Shape 114"/>
          <p:cNvSpPr/>
          <p:nvPr/>
        </p:nvSpPr>
        <p:spPr>
          <a:xfrm>
            <a:off x="6554419" y="4838090"/>
            <a:ext cx="86411" cy="0"/>
          </a:xfrm>
          <a:prstGeom prst="line">
            <a:avLst/>
          </a:prstGeom>
          <a:noFill/>
          <a:ln w="17526">
            <a:solidFill>
              <a:srgbClr val="0070AD"/>
            </a:solidFill>
            <a:prstDash val="solid"/>
            <a:headEnd type="none"/>
          </a:ln>
        </p:spPr>
      </p:sp>
      <p:sp>
        <p:nvSpPr>
          <p:cNvPr id="117" name="Shape 115"/>
          <p:cNvSpPr/>
          <p:nvPr/>
        </p:nvSpPr>
        <p:spPr>
          <a:xfrm>
            <a:off x="6640830" y="4838090"/>
            <a:ext cx="0" cy="224942"/>
          </a:xfrm>
          <a:prstGeom prst="line">
            <a:avLst/>
          </a:prstGeom>
          <a:noFill/>
          <a:ln w="17526">
            <a:solidFill>
              <a:srgbClr val="0070AD"/>
            </a:solidFill>
            <a:prstDash val="solid"/>
            <a:headEnd type="none"/>
          </a:ln>
        </p:spPr>
      </p:sp>
      <p:sp>
        <p:nvSpPr>
          <p:cNvPr id="118" name="Shape 116"/>
          <p:cNvSpPr/>
          <p:nvPr/>
        </p:nvSpPr>
        <p:spPr>
          <a:xfrm>
            <a:off x="6640830" y="5063033"/>
            <a:ext cx="86411" cy="0"/>
          </a:xfrm>
          <a:prstGeom prst="line">
            <a:avLst/>
          </a:prstGeom>
          <a:noFill/>
          <a:ln w="17526">
            <a:solidFill>
              <a:srgbClr val="0070AD"/>
            </a:solidFill>
            <a:prstDash val="solid"/>
            <a:headEnd type="none"/>
            <a:tailEnd type="triangle"/>
          </a:ln>
        </p:spPr>
      </p:sp>
      <p:sp>
        <p:nvSpPr>
          <p:cNvPr id="119" name="Shape 117"/>
          <p:cNvSpPr/>
          <p:nvPr/>
        </p:nvSpPr>
        <p:spPr>
          <a:xfrm>
            <a:off x="7593178" y="5063033"/>
            <a:ext cx="90068" cy="0"/>
          </a:xfrm>
          <a:prstGeom prst="line">
            <a:avLst/>
          </a:prstGeom>
          <a:noFill/>
          <a:ln w="17526">
            <a:solidFill>
              <a:srgbClr val="0070AD"/>
            </a:solidFill>
            <a:prstDash val="solid"/>
            <a:headEnd type="none"/>
          </a:ln>
        </p:spPr>
      </p:sp>
      <p:sp>
        <p:nvSpPr>
          <p:cNvPr id="120" name="Shape 118"/>
          <p:cNvSpPr/>
          <p:nvPr/>
        </p:nvSpPr>
        <p:spPr>
          <a:xfrm>
            <a:off x="7683246" y="5063033"/>
            <a:ext cx="0" cy="-226771"/>
          </a:xfrm>
          <a:prstGeom prst="line">
            <a:avLst/>
          </a:prstGeom>
          <a:noFill/>
          <a:ln w="17526">
            <a:solidFill>
              <a:srgbClr val="0070AD"/>
            </a:solidFill>
            <a:prstDash val="solid"/>
            <a:headEnd type="none"/>
          </a:ln>
        </p:spPr>
      </p:sp>
      <p:sp>
        <p:nvSpPr>
          <p:cNvPr id="121" name="Shape 119"/>
          <p:cNvSpPr/>
          <p:nvPr/>
        </p:nvSpPr>
        <p:spPr>
          <a:xfrm>
            <a:off x="7683246" y="4836262"/>
            <a:ext cx="90068" cy="0"/>
          </a:xfrm>
          <a:prstGeom prst="line">
            <a:avLst/>
          </a:prstGeom>
          <a:noFill/>
          <a:ln w="17526">
            <a:solidFill>
              <a:srgbClr val="0070AD"/>
            </a:solidFill>
            <a:prstDash val="solid"/>
            <a:headEnd type="none"/>
            <a:tailEnd type="triangle"/>
          </a:ln>
        </p:spPr>
      </p:sp>
      <p:sp>
        <p:nvSpPr>
          <p:cNvPr id="122" name="Shape 120"/>
          <p:cNvSpPr/>
          <p:nvPr/>
        </p:nvSpPr>
        <p:spPr>
          <a:xfrm>
            <a:off x="8609076" y="4836262"/>
            <a:ext cx="85496" cy="0"/>
          </a:xfrm>
          <a:prstGeom prst="line">
            <a:avLst/>
          </a:prstGeom>
          <a:noFill/>
          <a:ln w="17526">
            <a:solidFill>
              <a:srgbClr val="0070AD"/>
            </a:solidFill>
            <a:prstDash val="solid"/>
            <a:headEnd type="none"/>
          </a:ln>
        </p:spPr>
      </p:sp>
      <p:sp>
        <p:nvSpPr>
          <p:cNvPr id="123" name="Shape 121"/>
          <p:cNvSpPr/>
          <p:nvPr/>
        </p:nvSpPr>
        <p:spPr>
          <a:xfrm>
            <a:off x="8694572" y="4836262"/>
            <a:ext cx="0" cy="0"/>
          </a:xfrm>
          <a:prstGeom prst="line">
            <a:avLst/>
          </a:prstGeom>
          <a:noFill/>
          <a:ln w="17526">
            <a:solidFill>
              <a:srgbClr val="0070AD"/>
            </a:solidFill>
            <a:prstDash val="solid"/>
            <a:headEnd type="none"/>
          </a:ln>
        </p:spPr>
      </p:sp>
      <p:sp>
        <p:nvSpPr>
          <p:cNvPr id="124" name="Shape 122"/>
          <p:cNvSpPr/>
          <p:nvPr/>
        </p:nvSpPr>
        <p:spPr>
          <a:xfrm>
            <a:off x="8694572" y="4836262"/>
            <a:ext cx="85496" cy="0"/>
          </a:xfrm>
          <a:prstGeom prst="line">
            <a:avLst/>
          </a:prstGeom>
          <a:noFill/>
          <a:ln w="17526">
            <a:solidFill>
              <a:srgbClr val="0070AD"/>
            </a:solidFill>
            <a:prstDash val="solid"/>
            <a:headEnd type="none"/>
            <a:tailEnd type="triangle"/>
          </a:ln>
        </p:spPr>
      </p:sp>
      <p:sp>
        <p:nvSpPr>
          <p:cNvPr id="125" name="Shape 123"/>
          <p:cNvSpPr/>
          <p:nvPr/>
        </p:nvSpPr>
        <p:spPr>
          <a:xfrm>
            <a:off x="3813962" y="4128516"/>
            <a:ext cx="758038" cy="400507"/>
          </a:xfrm>
          <a:prstGeom prst="roundRect">
            <a:avLst>
              <a:gd name="adj" fmla="val 12557"/>
            </a:avLst>
          </a:prstGeom>
          <a:solidFill>
            <a:srgbClr val="FFFFFF"/>
          </a:solidFill>
          <a:ln w="19050">
            <a:solidFill>
              <a:srgbClr val="0070AD"/>
            </a:solidFill>
            <a:prstDash val="solid"/>
          </a:ln>
        </p:spPr>
      </p:sp>
      <p:sp>
        <p:nvSpPr>
          <p:cNvPr id="126" name="Text 124"/>
          <p:cNvSpPr txBox="1"/>
          <p:nvPr/>
        </p:nvSpPr>
        <p:spPr>
          <a:xfrm>
            <a:off x="3845052" y="4146804"/>
            <a:ext cx="695858" cy="363931"/>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Validate</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context</a:t>
            </a:r>
            <a:endParaRPr lang="en-US" sz="855" dirty="0"/>
          </a:p>
        </p:txBody>
      </p:sp>
      <p:sp>
        <p:nvSpPr>
          <p:cNvPr id="127" name="Shape 125"/>
          <p:cNvSpPr/>
          <p:nvPr/>
        </p:nvSpPr>
        <p:spPr>
          <a:xfrm>
            <a:off x="4747565" y="4384548"/>
            <a:ext cx="821131" cy="400507"/>
          </a:xfrm>
          <a:prstGeom prst="roundRect">
            <a:avLst>
              <a:gd name="adj" fmla="val 12557"/>
            </a:avLst>
          </a:prstGeom>
          <a:solidFill>
            <a:srgbClr val="FFFFFF"/>
          </a:solidFill>
          <a:ln w="19050">
            <a:solidFill>
              <a:srgbClr val="0070AD"/>
            </a:solidFill>
            <a:prstDash val="solid"/>
          </a:ln>
        </p:spPr>
      </p:sp>
      <p:sp>
        <p:nvSpPr>
          <p:cNvPr id="128" name="Text 126"/>
          <p:cNvSpPr txBox="1"/>
          <p:nvPr/>
        </p:nvSpPr>
        <p:spPr>
          <a:xfrm>
            <a:off x="4778654" y="4402836"/>
            <a:ext cx="758952" cy="363931"/>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Propose</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fulfillment plan</a:t>
            </a:r>
            <a:endParaRPr lang="en-US" sz="855" dirty="0"/>
          </a:p>
        </p:txBody>
      </p:sp>
      <p:sp>
        <p:nvSpPr>
          <p:cNvPr id="129" name="Shape 127"/>
          <p:cNvSpPr/>
          <p:nvPr/>
        </p:nvSpPr>
        <p:spPr>
          <a:xfrm>
            <a:off x="5745175" y="4637837"/>
            <a:ext cx="809244" cy="400507"/>
          </a:xfrm>
          <a:prstGeom prst="roundRect">
            <a:avLst>
              <a:gd name="adj" fmla="val 12557"/>
            </a:avLst>
          </a:prstGeom>
          <a:solidFill>
            <a:srgbClr val="FFFFFF"/>
          </a:solidFill>
          <a:ln w="20320">
            <a:solidFill>
              <a:srgbClr val="44195C"/>
            </a:solidFill>
            <a:prstDash val="solid"/>
          </a:ln>
        </p:spPr>
      </p:sp>
      <p:sp>
        <p:nvSpPr>
          <p:cNvPr id="130" name="Text 128"/>
          <p:cNvSpPr txBox="1"/>
          <p:nvPr/>
        </p:nvSpPr>
        <p:spPr>
          <a:xfrm>
            <a:off x="5776265" y="4656125"/>
            <a:ext cx="747065" cy="363931"/>
          </a:xfrm>
          <a:prstGeom prst="rect">
            <a:avLst/>
          </a:prstGeom>
          <a:noFill/>
          <a:ln/>
        </p:spPr>
        <p:txBody>
          <a:bodyPr wrap="square" lIns="0" tIns="0" rIns="0" bIns="0" rtlCol="0" anchor="ctr">
            <a:normAutofit/>
          </a:bodyPr>
          <a:lstStyle/>
          <a:p>
            <a:pPr algn="ctr" indent="0" marL="0">
              <a:lnSpc>
                <a:spcPct val="96000"/>
              </a:lnSpc>
              <a:buNone/>
            </a:pPr>
            <a:r>
              <a:rPr lang="en-US" sz="855" b="1" dirty="0">
                <a:solidFill>
                  <a:srgbClr val="2B0A3D"/>
                </a:solidFill>
                <a:latin typeface="Ubuntu" pitchFamily="34" charset="0"/>
                <a:ea typeface="Ubuntu" pitchFamily="34" charset="-122"/>
                <a:cs typeface="Ubuntu" pitchFamily="34" charset="-120"/>
              </a:rPr>
              <a:t>Authorize</a:t>
            </a:r>
            <a:endParaRPr lang="en-US" sz="855" dirty="0"/>
          </a:p>
          <a:p>
            <a:pPr algn="ctr" indent="0" marL="0">
              <a:lnSpc>
                <a:spcPct val="96000"/>
              </a:lnSpc>
              <a:buNone/>
            </a:pPr>
            <a:r>
              <a:rPr lang="en-US" sz="855" b="1" dirty="0">
                <a:solidFill>
                  <a:srgbClr val="2B0A3D"/>
                </a:solidFill>
                <a:latin typeface="Ubuntu" pitchFamily="34" charset="0"/>
                <a:ea typeface="Ubuntu" pitchFamily="34" charset="-122"/>
                <a:cs typeface="Ubuntu" pitchFamily="34" charset="-120"/>
              </a:rPr>
              <a:t>action</a:t>
            </a:r>
            <a:endParaRPr lang="en-US" sz="855" dirty="0"/>
          </a:p>
        </p:txBody>
      </p:sp>
      <p:sp>
        <p:nvSpPr>
          <p:cNvPr id="131" name="Shape 129"/>
          <p:cNvSpPr/>
          <p:nvPr/>
        </p:nvSpPr>
        <p:spPr>
          <a:xfrm>
            <a:off x="6727241" y="4862779"/>
            <a:ext cx="865937" cy="400507"/>
          </a:xfrm>
          <a:prstGeom prst="roundRect">
            <a:avLst>
              <a:gd name="adj" fmla="val 12557"/>
            </a:avLst>
          </a:prstGeom>
          <a:solidFill>
            <a:srgbClr val="FFFFFF"/>
          </a:solidFill>
          <a:ln w="19050">
            <a:solidFill>
              <a:srgbClr val="0070AD"/>
            </a:solidFill>
            <a:prstDash val="solid"/>
          </a:ln>
        </p:spPr>
      </p:sp>
      <p:sp>
        <p:nvSpPr>
          <p:cNvPr id="132" name="Text 130"/>
          <p:cNvSpPr txBox="1"/>
          <p:nvPr/>
        </p:nvSpPr>
        <p:spPr>
          <a:xfrm>
            <a:off x="6758330" y="4881067"/>
            <a:ext cx="803758" cy="363931"/>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Execute</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physical work</a:t>
            </a:r>
            <a:endParaRPr lang="en-US" sz="855" dirty="0"/>
          </a:p>
        </p:txBody>
      </p:sp>
      <p:sp>
        <p:nvSpPr>
          <p:cNvPr id="133" name="Shape 131"/>
          <p:cNvSpPr/>
          <p:nvPr/>
        </p:nvSpPr>
        <p:spPr>
          <a:xfrm>
            <a:off x="7773314" y="4636008"/>
            <a:ext cx="835762" cy="400507"/>
          </a:xfrm>
          <a:prstGeom prst="roundRect">
            <a:avLst>
              <a:gd name="adj" fmla="val 12557"/>
            </a:avLst>
          </a:prstGeom>
          <a:solidFill>
            <a:srgbClr val="FFFFFF"/>
          </a:solidFill>
          <a:ln w="19050">
            <a:solidFill>
              <a:srgbClr val="0070AD"/>
            </a:solidFill>
            <a:prstDash val="solid"/>
          </a:ln>
        </p:spPr>
      </p:sp>
      <p:sp>
        <p:nvSpPr>
          <p:cNvPr id="134" name="Text 132"/>
          <p:cNvSpPr txBox="1"/>
          <p:nvPr/>
        </p:nvSpPr>
        <p:spPr>
          <a:xfrm>
            <a:off x="7804404" y="4654296"/>
            <a:ext cx="773582" cy="363931"/>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Reconcile</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events</a:t>
            </a:r>
            <a:endParaRPr lang="en-US" sz="855" dirty="0"/>
          </a:p>
        </p:txBody>
      </p:sp>
      <p:sp>
        <p:nvSpPr>
          <p:cNvPr id="135" name="Shape 133"/>
          <p:cNvSpPr/>
          <p:nvPr/>
        </p:nvSpPr>
        <p:spPr>
          <a:xfrm>
            <a:off x="8780069" y="4636008"/>
            <a:ext cx="767182" cy="400507"/>
          </a:xfrm>
          <a:prstGeom prst="roundRect">
            <a:avLst>
              <a:gd name="adj" fmla="val 12557"/>
            </a:avLst>
          </a:prstGeom>
          <a:solidFill>
            <a:srgbClr val="FFFFFF"/>
          </a:solidFill>
          <a:ln w="19050">
            <a:solidFill>
              <a:srgbClr val="0070AD"/>
            </a:solidFill>
            <a:prstDash val="solid"/>
          </a:ln>
        </p:spPr>
      </p:sp>
      <p:sp>
        <p:nvSpPr>
          <p:cNvPr id="136" name="Text 134"/>
          <p:cNvSpPr txBox="1"/>
          <p:nvPr/>
        </p:nvSpPr>
        <p:spPr>
          <a:xfrm>
            <a:off x="8811158" y="4654296"/>
            <a:ext cx="705002" cy="363931"/>
          </a:xfrm>
          <a:prstGeom prst="rect">
            <a:avLst/>
          </a:prstGeom>
          <a:noFill/>
          <a:ln/>
        </p:spPr>
        <p:txBody>
          <a:bodyPr wrap="square" lIns="0" tIns="0" rIns="0" bIns="0" rtlCol="0" anchor="ctr">
            <a:normAutofit/>
          </a:bodyPr>
          <a:lstStyle/>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Resolve with</a:t>
            </a:r>
            <a:endParaRPr lang="en-US" sz="855" dirty="0"/>
          </a:p>
          <a:p>
            <a:pPr algn="ctr" indent="0" marL="0">
              <a:lnSpc>
                <a:spcPct val="96000"/>
              </a:lnSpc>
              <a:buNone/>
            </a:pPr>
            <a:r>
              <a:rPr lang="en-US" sz="855" dirty="0">
                <a:solidFill>
                  <a:srgbClr val="2B0A3D"/>
                </a:solidFill>
                <a:latin typeface="Ubuntu" pitchFamily="34" charset="0"/>
                <a:ea typeface="Ubuntu" pitchFamily="34" charset="-122"/>
                <a:cs typeface="Ubuntu" pitchFamily="34" charset="-120"/>
              </a:rPr>
              <a:t>context</a:t>
            </a:r>
            <a:endParaRPr lang="en-US" sz="855" dirty="0"/>
          </a:p>
        </p:txBody>
      </p:sp>
      <p:sp>
        <p:nvSpPr>
          <p:cNvPr id="137" name="Text 135"/>
          <p:cNvSpPr txBox="1"/>
          <p:nvPr/>
        </p:nvSpPr>
        <p:spPr>
          <a:xfrm>
            <a:off x="2969971" y="5293462"/>
            <a:ext cx="6446520" cy="127102"/>
          </a:xfrm>
          <a:prstGeom prst="rect">
            <a:avLst/>
          </a:prstGeom>
          <a:noFill/>
          <a:ln/>
        </p:spPr>
        <p:txBody>
          <a:bodyPr wrap="square" lIns="0" tIns="0" rIns="0" bIns="0" rtlCol="0" anchor="ctr">
            <a:normAutofit/>
          </a:bodyPr>
          <a:lstStyle/>
          <a:p>
            <a:pPr algn="ctr" indent="0" marL="0">
              <a:lnSpc>
                <a:spcPct val="96000"/>
              </a:lnSpc>
              <a:buNone/>
            </a:pPr>
            <a:r>
              <a:rPr lang="en-US" sz="773" dirty="0">
                <a:solidFill>
                  <a:srgbClr val="71717E"/>
                </a:solidFill>
                <a:latin typeface="Ubuntu" pitchFamily="34" charset="0"/>
                <a:ea typeface="Ubuntu" pitchFamily="34" charset="-122"/>
                <a:cs typeface="Ubuntu" pitchFamily="34" charset="-120"/>
              </a:rPr>
              <a:t>Shared illustration. Scenario metrics vary. Highlighting shows time progression, not workflow execution.</a:t>
            </a:r>
            <a:endParaRPr lang="en-US" sz="773" dirty="0"/>
          </a:p>
        </p:txBody>
      </p:sp>
      <p:sp>
        <p:nvSpPr>
          <p:cNvPr id="138" name="Shape 136"/>
          <p:cNvSpPr/>
          <p:nvPr/>
        </p:nvSpPr>
        <p:spPr>
          <a:xfrm>
            <a:off x="9623146" y="3593592"/>
            <a:ext cx="128930" cy="0"/>
          </a:xfrm>
          <a:prstGeom prst="line">
            <a:avLst/>
          </a:prstGeom>
          <a:noFill/>
          <a:ln w="20320">
            <a:solidFill>
              <a:srgbClr val="0070AD"/>
            </a:solidFill>
            <a:prstDash val="solid"/>
            <a:headEnd type="none"/>
            <a:tailEnd type="triangle"/>
          </a:ln>
        </p:spPr>
      </p:sp>
      <p:sp>
        <p:nvSpPr>
          <p:cNvPr id="139" name="Shape 137"/>
          <p:cNvSpPr/>
          <p:nvPr/>
        </p:nvSpPr>
        <p:spPr>
          <a:xfrm>
            <a:off x="9768535" y="1421892"/>
            <a:ext cx="1946758" cy="3522269"/>
          </a:xfrm>
          <a:prstGeom prst="roundRect">
            <a:avLst>
              <a:gd name="adj" fmla="val 3382"/>
            </a:avLst>
          </a:prstGeom>
          <a:solidFill>
            <a:srgbClr val="2B0A3D"/>
          </a:solidFill>
          <a:ln w="12700">
            <a:solidFill>
              <a:srgbClr val="2B0A3D">
                <a:alpha val="0"/>
              </a:srgbClr>
            </a:solidFill>
            <a:prstDash val="solid"/>
          </a:ln>
        </p:spPr>
      </p:sp>
      <p:sp>
        <p:nvSpPr>
          <p:cNvPr id="140" name="Text 138"/>
          <p:cNvSpPr txBox="1"/>
          <p:nvPr/>
        </p:nvSpPr>
        <p:spPr>
          <a:xfrm>
            <a:off x="9923069" y="1582826"/>
            <a:ext cx="1637690" cy="413309"/>
          </a:xfrm>
          <a:prstGeom prst="rect">
            <a:avLst/>
          </a:prstGeom>
          <a:noFill/>
          <a:ln/>
        </p:spPr>
        <p:txBody>
          <a:bodyPr wrap="square" lIns="0" tIns="0" rIns="0" bIns="0" rtlCol="0" anchor="ctr">
            <a:normAutofit/>
          </a:bodyPr>
          <a:lstStyle/>
          <a:p>
            <a:pPr algn="ctr" indent="0" marL="0">
              <a:lnSpc>
                <a:spcPct val="96000"/>
              </a:lnSpc>
              <a:buNone/>
            </a:pPr>
            <a:r>
              <a:rPr lang="en-US" sz="1420" b="1" dirty="0">
                <a:solidFill>
                  <a:srgbClr val="FFFFFF"/>
                </a:solidFill>
                <a:latin typeface="Ubuntu" pitchFamily="34" charset="0"/>
                <a:ea typeface="Ubuntu" pitchFamily="34" charset="-122"/>
                <a:cs typeface="Ubuntu" pitchFamily="34" charset="-120"/>
              </a:rPr>
              <a:t>Explore</a:t>
            </a:r>
            <a:endParaRPr lang="en-US" sz="1420" dirty="0"/>
          </a:p>
          <a:p>
            <a:pPr algn="ctr" indent="0" marL="0">
              <a:lnSpc>
                <a:spcPct val="96000"/>
              </a:lnSpc>
              <a:buNone/>
            </a:pPr>
            <a:r>
              <a:rPr lang="en-US" sz="1420" b="1" dirty="0">
                <a:solidFill>
                  <a:srgbClr val="FFFFFF"/>
                </a:solidFill>
                <a:latin typeface="Ubuntu" pitchFamily="34" charset="0"/>
                <a:ea typeface="Ubuntu" pitchFamily="34" charset="-122"/>
                <a:cs typeface="Ubuntu" pitchFamily="34" charset="-120"/>
              </a:rPr>
              <a:t>business impact</a:t>
            </a:r>
            <a:endParaRPr lang="en-US" sz="1420" dirty="0"/>
          </a:p>
        </p:txBody>
      </p:sp>
      <p:sp>
        <p:nvSpPr>
          <p:cNvPr id="141" name="Shape 139"/>
          <p:cNvSpPr/>
          <p:nvPr/>
        </p:nvSpPr>
        <p:spPr>
          <a:xfrm>
            <a:off x="10177272" y="2194560"/>
            <a:ext cx="230429" cy="230429"/>
          </a:xfrm>
          <a:prstGeom prst="ellipse">
            <a:avLst/>
          </a:prstGeom>
          <a:solidFill>
            <a:srgbClr val="2B0A3D"/>
          </a:solidFill>
          <a:ln w="16510">
            <a:solidFill>
              <a:srgbClr val="FFFFFF"/>
            </a:solidFill>
            <a:prstDash val="solid"/>
          </a:ln>
        </p:spPr>
      </p:sp>
      <p:sp>
        <p:nvSpPr>
          <p:cNvPr id="142" name="Shape 140"/>
          <p:cNvSpPr/>
          <p:nvPr/>
        </p:nvSpPr>
        <p:spPr>
          <a:xfrm>
            <a:off x="10292486" y="2211934"/>
            <a:ext cx="0" cy="83210"/>
          </a:xfrm>
          <a:prstGeom prst="line">
            <a:avLst/>
          </a:prstGeom>
          <a:noFill/>
          <a:ln w="17780">
            <a:solidFill>
              <a:srgbClr val="FFFFFF"/>
            </a:solidFill>
            <a:prstDash val="solid"/>
            <a:headEnd type="none"/>
          </a:ln>
        </p:spPr>
      </p:sp>
      <p:sp>
        <p:nvSpPr>
          <p:cNvPr id="143" name="Shape 141"/>
          <p:cNvSpPr/>
          <p:nvPr/>
        </p:nvSpPr>
        <p:spPr>
          <a:xfrm>
            <a:off x="10293401" y="2291486"/>
            <a:ext cx="47549" cy="32918"/>
          </a:xfrm>
          <a:prstGeom prst="line">
            <a:avLst/>
          </a:prstGeom>
          <a:noFill/>
          <a:ln w="17780">
            <a:solidFill>
              <a:srgbClr val="FFFFFF"/>
            </a:solidFill>
            <a:prstDash val="solid"/>
            <a:headEnd type="none"/>
          </a:ln>
        </p:spPr>
      </p:sp>
      <p:sp>
        <p:nvSpPr>
          <p:cNvPr id="144" name="Shape 142"/>
          <p:cNvSpPr/>
          <p:nvPr/>
        </p:nvSpPr>
        <p:spPr>
          <a:xfrm>
            <a:off x="10241280" y="2157070"/>
            <a:ext cx="103327" cy="0"/>
          </a:xfrm>
          <a:prstGeom prst="line">
            <a:avLst/>
          </a:prstGeom>
          <a:noFill/>
          <a:ln w="15240">
            <a:solidFill>
              <a:srgbClr val="FFFFFF"/>
            </a:solidFill>
            <a:prstDash val="solid"/>
            <a:headEnd type="none"/>
          </a:ln>
        </p:spPr>
      </p:sp>
      <p:sp>
        <p:nvSpPr>
          <p:cNvPr id="145" name="Shape 143"/>
          <p:cNvSpPr/>
          <p:nvPr/>
        </p:nvSpPr>
        <p:spPr>
          <a:xfrm>
            <a:off x="10292486" y="2156155"/>
            <a:ext cx="0" cy="29261"/>
          </a:xfrm>
          <a:prstGeom prst="line">
            <a:avLst/>
          </a:prstGeom>
          <a:noFill/>
          <a:ln w="15240">
            <a:solidFill>
              <a:srgbClr val="FFFFFF"/>
            </a:solidFill>
            <a:prstDash val="solid"/>
            <a:headEnd type="none"/>
          </a:ln>
        </p:spPr>
      </p:sp>
      <p:sp>
        <p:nvSpPr>
          <p:cNvPr id="146" name="Shape 144"/>
          <p:cNvSpPr/>
          <p:nvPr/>
        </p:nvSpPr>
        <p:spPr>
          <a:xfrm>
            <a:off x="11046866" y="2200961"/>
            <a:ext cx="100584" cy="100584"/>
          </a:xfrm>
          <a:prstGeom prst="ellipse">
            <a:avLst/>
          </a:prstGeom>
          <a:solidFill>
            <a:srgbClr val="2B0A3D"/>
          </a:solidFill>
          <a:ln w="14605">
            <a:solidFill>
              <a:srgbClr val="FFFFFF"/>
            </a:solidFill>
            <a:prstDash val="solid"/>
          </a:ln>
        </p:spPr>
      </p:sp>
      <p:sp>
        <p:nvSpPr>
          <p:cNvPr id="147" name="Shape 145"/>
          <p:cNvSpPr/>
          <p:nvPr/>
        </p:nvSpPr>
        <p:spPr>
          <a:xfrm>
            <a:off x="11165738" y="2236622"/>
            <a:ext cx="68580" cy="68580"/>
          </a:xfrm>
          <a:prstGeom prst="ellipse">
            <a:avLst/>
          </a:prstGeom>
          <a:solidFill>
            <a:srgbClr val="2B0A3D"/>
          </a:solidFill>
          <a:ln w="14605">
            <a:solidFill>
              <a:srgbClr val="FFFFFF"/>
            </a:solidFill>
            <a:prstDash val="solid"/>
          </a:ln>
        </p:spPr>
      </p:sp>
      <p:sp>
        <p:nvSpPr>
          <p:cNvPr id="148" name="Shape 146"/>
          <p:cNvSpPr/>
          <p:nvPr/>
        </p:nvSpPr>
        <p:spPr>
          <a:xfrm>
            <a:off x="10991088" y="2367382"/>
            <a:ext cx="0" cy="-34747"/>
          </a:xfrm>
          <a:prstGeom prst="line">
            <a:avLst/>
          </a:prstGeom>
          <a:noFill/>
          <a:ln w="18415">
            <a:solidFill>
              <a:srgbClr val="FFFFFF"/>
            </a:solidFill>
            <a:prstDash val="solid"/>
            <a:headEnd type="none"/>
          </a:ln>
        </p:spPr>
      </p:sp>
      <p:sp>
        <p:nvSpPr>
          <p:cNvPr id="149" name="Shape 147"/>
          <p:cNvSpPr/>
          <p:nvPr/>
        </p:nvSpPr>
        <p:spPr>
          <a:xfrm>
            <a:off x="10991088" y="2332634"/>
            <a:ext cx="42062" cy="-30175"/>
          </a:xfrm>
          <a:prstGeom prst="line">
            <a:avLst/>
          </a:prstGeom>
          <a:noFill/>
          <a:ln w="18415">
            <a:solidFill>
              <a:srgbClr val="FFFFFF"/>
            </a:solidFill>
            <a:prstDash val="solid"/>
            <a:headEnd type="none"/>
          </a:ln>
        </p:spPr>
      </p:sp>
      <p:sp>
        <p:nvSpPr>
          <p:cNvPr id="150" name="Shape 148"/>
          <p:cNvSpPr/>
          <p:nvPr/>
        </p:nvSpPr>
        <p:spPr>
          <a:xfrm>
            <a:off x="11033150" y="2302459"/>
            <a:ext cx="122530" cy="0"/>
          </a:xfrm>
          <a:prstGeom prst="line">
            <a:avLst/>
          </a:prstGeom>
          <a:noFill/>
          <a:ln w="18415">
            <a:solidFill>
              <a:srgbClr val="FFFFFF"/>
            </a:solidFill>
            <a:prstDash val="solid"/>
            <a:headEnd type="none"/>
          </a:ln>
        </p:spPr>
      </p:sp>
      <p:sp>
        <p:nvSpPr>
          <p:cNvPr id="151" name="Shape 149"/>
          <p:cNvSpPr/>
          <p:nvPr/>
        </p:nvSpPr>
        <p:spPr>
          <a:xfrm>
            <a:off x="11155680" y="2302459"/>
            <a:ext cx="42977" cy="39319"/>
          </a:xfrm>
          <a:prstGeom prst="line">
            <a:avLst/>
          </a:prstGeom>
          <a:noFill/>
          <a:ln w="18415">
            <a:solidFill>
              <a:srgbClr val="FFFFFF"/>
            </a:solidFill>
            <a:prstDash val="solid"/>
            <a:headEnd type="none"/>
          </a:ln>
        </p:spPr>
      </p:sp>
      <p:sp>
        <p:nvSpPr>
          <p:cNvPr id="152" name="Shape 150"/>
          <p:cNvSpPr/>
          <p:nvPr/>
        </p:nvSpPr>
        <p:spPr>
          <a:xfrm>
            <a:off x="11198657" y="2341778"/>
            <a:ext cx="0" cy="30175"/>
          </a:xfrm>
          <a:prstGeom prst="line">
            <a:avLst/>
          </a:prstGeom>
          <a:noFill/>
          <a:ln w="18415">
            <a:solidFill>
              <a:srgbClr val="FFFFFF"/>
            </a:solidFill>
            <a:prstDash val="solid"/>
            <a:headEnd type="none"/>
          </a:ln>
        </p:spPr>
      </p:sp>
      <p:sp>
        <p:nvSpPr>
          <p:cNvPr id="153" name="Text 151"/>
          <p:cNvSpPr txBox="1"/>
          <p:nvPr/>
        </p:nvSpPr>
        <p:spPr>
          <a:xfrm>
            <a:off x="9972446" y="2501798"/>
            <a:ext cx="777240" cy="321869"/>
          </a:xfrm>
          <a:prstGeom prst="rect">
            <a:avLst/>
          </a:prstGeom>
          <a:noFill/>
          <a:ln/>
        </p:spPr>
        <p:txBody>
          <a:bodyPr wrap="square" lIns="0" tIns="0" rIns="0" bIns="0" rtlCol="0" anchor="ctr">
            <a:normAutofit/>
          </a:bodyPr>
          <a:lstStyle/>
          <a:p>
            <a:pPr algn="ctr" indent="0" marL="0">
              <a:lnSpc>
                <a:spcPct val="96000"/>
              </a:lnSpc>
              <a:buNone/>
            </a:pPr>
            <a:r>
              <a:rPr lang="en-US" sz="930" dirty="0">
                <a:solidFill>
                  <a:srgbClr val="FFFFFF"/>
                </a:solidFill>
                <a:latin typeface="Ubuntu" pitchFamily="34" charset="0"/>
                <a:ea typeface="Ubuntu" pitchFamily="34" charset="-122"/>
                <a:cs typeface="Ubuntu" pitchFamily="34" charset="-120"/>
              </a:rPr>
              <a:t>Cycle</a:t>
            </a:r>
            <a:endParaRPr lang="en-US" sz="930" dirty="0"/>
          </a:p>
          <a:p>
            <a:pPr algn="ctr" indent="0" marL="0">
              <a:lnSpc>
                <a:spcPct val="96000"/>
              </a:lnSpc>
              <a:buNone/>
            </a:pPr>
            <a:r>
              <a:rPr lang="en-US" sz="930" dirty="0">
                <a:solidFill>
                  <a:srgbClr val="FFFFFF"/>
                </a:solidFill>
                <a:latin typeface="Ubuntu" pitchFamily="34" charset="0"/>
                <a:ea typeface="Ubuntu" pitchFamily="34" charset="-122"/>
                <a:cs typeface="Ubuntu" pitchFamily="34" charset="-120"/>
              </a:rPr>
              <a:t>time</a:t>
            </a:r>
            <a:endParaRPr lang="en-US" sz="930" dirty="0"/>
          </a:p>
        </p:txBody>
      </p:sp>
      <p:sp>
        <p:nvSpPr>
          <p:cNvPr id="154" name="Text 152"/>
          <p:cNvSpPr txBox="1"/>
          <p:nvPr/>
        </p:nvSpPr>
        <p:spPr>
          <a:xfrm>
            <a:off x="10766146" y="2501798"/>
            <a:ext cx="780898" cy="321869"/>
          </a:xfrm>
          <a:prstGeom prst="rect">
            <a:avLst/>
          </a:prstGeom>
          <a:noFill/>
          <a:ln/>
        </p:spPr>
        <p:txBody>
          <a:bodyPr wrap="square" lIns="0" tIns="0" rIns="0" bIns="0" rtlCol="0" anchor="ctr">
            <a:normAutofit/>
          </a:bodyPr>
          <a:lstStyle/>
          <a:p>
            <a:pPr algn="ctr" indent="0" marL="0">
              <a:lnSpc>
                <a:spcPct val="96000"/>
              </a:lnSpc>
              <a:buNone/>
            </a:pPr>
            <a:r>
              <a:rPr lang="en-US" sz="930" dirty="0">
                <a:solidFill>
                  <a:srgbClr val="FFFFFF"/>
                </a:solidFill>
                <a:latin typeface="Ubuntu" pitchFamily="34" charset="0"/>
                <a:ea typeface="Ubuntu" pitchFamily="34" charset="-122"/>
                <a:cs typeface="Ubuntu" pitchFamily="34" charset="-120"/>
              </a:rPr>
              <a:t>Human</a:t>
            </a:r>
            <a:endParaRPr lang="en-US" sz="930" dirty="0"/>
          </a:p>
          <a:p>
            <a:pPr algn="ctr" indent="0" marL="0">
              <a:lnSpc>
                <a:spcPct val="96000"/>
              </a:lnSpc>
              <a:buNone/>
            </a:pPr>
            <a:r>
              <a:rPr lang="en-US" sz="930" dirty="0">
                <a:solidFill>
                  <a:srgbClr val="FFFFFF"/>
                </a:solidFill>
                <a:latin typeface="Ubuntu" pitchFamily="34" charset="0"/>
                <a:ea typeface="Ubuntu" pitchFamily="34" charset="-122"/>
                <a:cs typeface="Ubuntu" pitchFamily="34" charset="-120"/>
              </a:rPr>
              <a:t>effort</a:t>
            </a:r>
            <a:endParaRPr lang="en-US" sz="930" dirty="0"/>
          </a:p>
        </p:txBody>
      </p:sp>
      <p:sp>
        <p:nvSpPr>
          <p:cNvPr id="155" name="Shape 153"/>
          <p:cNvSpPr/>
          <p:nvPr/>
        </p:nvSpPr>
        <p:spPr>
          <a:xfrm>
            <a:off x="10175443" y="3002890"/>
            <a:ext cx="259690" cy="192024"/>
          </a:xfrm>
          <a:prstGeom prst="roundRect">
            <a:avLst>
              <a:gd name="adj" fmla="val 14286"/>
            </a:avLst>
          </a:prstGeom>
          <a:solidFill>
            <a:srgbClr val="2B0A3D"/>
          </a:solidFill>
          <a:ln w="12700">
            <a:solidFill>
              <a:srgbClr val="FFFFFF"/>
            </a:solidFill>
            <a:prstDash val="solid"/>
          </a:ln>
        </p:spPr>
      </p:sp>
      <p:sp>
        <p:nvSpPr>
          <p:cNvPr id="156" name="Text 154"/>
          <p:cNvSpPr txBox="1"/>
          <p:nvPr/>
        </p:nvSpPr>
        <p:spPr>
          <a:xfrm>
            <a:off x="10210190" y="3002890"/>
            <a:ext cx="164592" cy="187452"/>
          </a:xfrm>
          <a:prstGeom prst="rect">
            <a:avLst/>
          </a:prstGeom>
          <a:noFill/>
          <a:ln/>
        </p:spPr>
        <p:txBody>
          <a:bodyPr wrap="square" lIns="0" tIns="0" rIns="0" bIns="0" rtlCol="0" anchor="ctr">
            <a:normAutofit/>
          </a:bodyPr>
          <a:lstStyle/>
          <a:p>
            <a:pPr algn="ctr" indent="0" marL="0">
              <a:lnSpc>
                <a:spcPct val="96000"/>
              </a:lnSpc>
              <a:buNone/>
            </a:pPr>
            <a:r>
              <a:rPr lang="en-US" sz="1280" b="1" dirty="0">
                <a:solidFill>
                  <a:srgbClr val="FFFFFF"/>
                </a:solidFill>
                <a:latin typeface="Ubuntu" pitchFamily="34" charset="0"/>
                <a:ea typeface="Ubuntu" pitchFamily="34" charset="-122"/>
                <a:cs typeface="Ubuntu" pitchFamily="34" charset="-120"/>
              </a:rPr>
              <a:t>$</a:t>
            </a:r>
            <a:endParaRPr lang="en-US" sz="1280" dirty="0"/>
          </a:p>
        </p:txBody>
      </p:sp>
      <p:sp>
        <p:nvSpPr>
          <p:cNvPr id="157" name="Shape 155"/>
          <p:cNvSpPr/>
          <p:nvPr/>
        </p:nvSpPr>
        <p:spPr>
          <a:xfrm>
            <a:off x="11041380" y="2983687"/>
            <a:ext cx="262433" cy="262433"/>
          </a:xfrm>
          <a:prstGeom prst="ellipse">
            <a:avLst/>
          </a:prstGeom>
          <a:solidFill>
            <a:srgbClr val="2B0A3D"/>
          </a:solidFill>
          <a:ln w="15875">
            <a:solidFill>
              <a:srgbClr val="FFFFFF"/>
            </a:solidFill>
            <a:prstDash val="solid"/>
          </a:ln>
        </p:spPr>
      </p:sp>
      <p:sp>
        <p:nvSpPr>
          <p:cNvPr id="158" name="Shape 156"/>
          <p:cNvSpPr/>
          <p:nvPr/>
        </p:nvSpPr>
        <p:spPr>
          <a:xfrm>
            <a:off x="10987430" y="2972714"/>
            <a:ext cx="169164" cy="78638"/>
          </a:xfrm>
          <a:prstGeom prst="rect">
            <a:avLst/>
          </a:prstGeom>
          <a:solidFill>
            <a:srgbClr val="2B0A3D"/>
          </a:solidFill>
          <a:ln w="12700">
            <a:solidFill>
              <a:srgbClr val="2B0A3D">
                <a:alpha val="0"/>
              </a:srgbClr>
            </a:solidFill>
            <a:prstDash val="solid"/>
          </a:ln>
        </p:spPr>
      </p:sp>
      <p:sp>
        <p:nvSpPr>
          <p:cNvPr id="159" name="Shape 157"/>
          <p:cNvSpPr/>
          <p:nvPr/>
        </p:nvSpPr>
        <p:spPr>
          <a:xfrm>
            <a:off x="10980115" y="3020263"/>
            <a:ext cx="182880" cy="0"/>
          </a:xfrm>
          <a:prstGeom prst="line">
            <a:avLst/>
          </a:prstGeom>
          <a:noFill/>
          <a:ln w="12700">
            <a:solidFill>
              <a:srgbClr val="FFFFFF"/>
            </a:solidFill>
            <a:prstDash val="solid"/>
            <a:headEnd type="none"/>
            <a:tailEnd type="triangle"/>
          </a:ln>
        </p:spPr>
      </p:sp>
      <p:sp>
        <p:nvSpPr>
          <p:cNvPr id="160" name="Text 158"/>
          <p:cNvSpPr txBox="1"/>
          <p:nvPr/>
        </p:nvSpPr>
        <p:spPr>
          <a:xfrm>
            <a:off x="9968789" y="3297326"/>
            <a:ext cx="779069" cy="321869"/>
          </a:xfrm>
          <a:prstGeom prst="rect">
            <a:avLst/>
          </a:prstGeom>
          <a:noFill/>
          <a:ln/>
        </p:spPr>
        <p:txBody>
          <a:bodyPr wrap="square" lIns="0" tIns="0" rIns="0" bIns="0" rtlCol="0" anchor="ctr">
            <a:normAutofit/>
          </a:bodyPr>
          <a:lstStyle/>
          <a:p>
            <a:pPr algn="ctr" indent="0" marL="0">
              <a:lnSpc>
                <a:spcPct val="96000"/>
              </a:lnSpc>
              <a:buNone/>
            </a:pPr>
            <a:r>
              <a:rPr lang="en-US" sz="920" dirty="0">
                <a:solidFill>
                  <a:srgbClr val="FFFFFF"/>
                </a:solidFill>
                <a:latin typeface="Ubuntu" pitchFamily="34" charset="0"/>
                <a:ea typeface="Ubuntu" pitchFamily="34" charset="-122"/>
                <a:cs typeface="Ubuntu" pitchFamily="34" charset="-120"/>
              </a:rPr>
              <a:t>Operating</a:t>
            </a:r>
            <a:endParaRPr lang="en-US" sz="920" dirty="0"/>
          </a:p>
          <a:p>
            <a:pPr algn="ctr" indent="0" marL="0">
              <a:lnSpc>
                <a:spcPct val="96000"/>
              </a:lnSpc>
              <a:buNone/>
            </a:pPr>
            <a:r>
              <a:rPr lang="en-US" sz="920" dirty="0">
                <a:solidFill>
                  <a:srgbClr val="FFFFFF"/>
                </a:solidFill>
                <a:latin typeface="Ubuntu" pitchFamily="34" charset="0"/>
                <a:ea typeface="Ubuntu" pitchFamily="34" charset="-122"/>
                <a:cs typeface="Ubuntu" pitchFamily="34" charset="-120"/>
              </a:rPr>
              <a:t>cost</a:t>
            </a:r>
            <a:endParaRPr lang="en-US" sz="920" dirty="0"/>
          </a:p>
        </p:txBody>
      </p:sp>
      <p:sp>
        <p:nvSpPr>
          <p:cNvPr id="161" name="Text 159"/>
          <p:cNvSpPr txBox="1"/>
          <p:nvPr/>
        </p:nvSpPr>
        <p:spPr>
          <a:xfrm>
            <a:off x="10735056" y="3297326"/>
            <a:ext cx="868680" cy="321869"/>
          </a:xfrm>
          <a:prstGeom prst="rect">
            <a:avLst/>
          </a:prstGeom>
          <a:noFill/>
          <a:ln/>
        </p:spPr>
        <p:txBody>
          <a:bodyPr wrap="square" lIns="0" tIns="0" rIns="0" bIns="0" rtlCol="0" anchor="ctr">
            <a:normAutofit/>
          </a:bodyPr>
          <a:lstStyle/>
          <a:p>
            <a:pPr algn="ctr" indent="0" marL="0">
              <a:lnSpc>
                <a:spcPct val="96000"/>
              </a:lnSpc>
              <a:buNone/>
            </a:pPr>
            <a:r>
              <a:rPr lang="en-US" sz="905" dirty="0">
                <a:solidFill>
                  <a:srgbClr val="FFFFFF"/>
                </a:solidFill>
                <a:latin typeface="Ubuntu" pitchFamily="34" charset="0"/>
                <a:ea typeface="Ubuntu" pitchFamily="34" charset="-122"/>
                <a:cs typeface="Ubuntu" pitchFamily="34" charset="-120"/>
              </a:rPr>
              <a:t>Redeployable</a:t>
            </a:r>
            <a:endParaRPr lang="en-US" sz="905" dirty="0"/>
          </a:p>
          <a:p>
            <a:pPr algn="ctr" indent="0" marL="0">
              <a:lnSpc>
                <a:spcPct val="96000"/>
              </a:lnSpc>
              <a:buNone/>
            </a:pPr>
            <a:r>
              <a:rPr lang="en-US" sz="905" dirty="0">
                <a:solidFill>
                  <a:srgbClr val="FFFFFF"/>
                </a:solidFill>
                <a:latin typeface="Ubuntu" pitchFamily="34" charset="0"/>
                <a:ea typeface="Ubuntu" pitchFamily="34" charset="-122"/>
                <a:cs typeface="Ubuntu" pitchFamily="34" charset="-120"/>
              </a:rPr>
              <a:t>capacity</a:t>
            </a:r>
            <a:endParaRPr lang="en-US" sz="905" dirty="0"/>
          </a:p>
        </p:txBody>
      </p:sp>
      <p:sp>
        <p:nvSpPr>
          <p:cNvPr id="162" name="Shape 160"/>
          <p:cNvSpPr/>
          <p:nvPr/>
        </p:nvSpPr>
        <p:spPr>
          <a:xfrm>
            <a:off x="9941357" y="3724351"/>
            <a:ext cx="1603858" cy="0"/>
          </a:xfrm>
          <a:prstGeom prst="line">
            <a:avLst/>
          </a:prstGeom>
          <a:noFill/>
          <a:ln w="9525">
            <a:solidFill>
              <a:srgbClr val="44195C"/>
            </a:solidFill>
            <a:prstDash val="solid"/>
            <a:headEnd type="none"/>
          </a:ln>
        </p:spPr>
      </p:sp>
      <p:sp>
        <p:nvSpPr>
          <p:cNvPr id="163" name="Text 161"/>
          <p:cNvSpPr txBox="1"/>
          <p:nvPr/>
        </p:nvSpPr>
        <p:spPr>
          <a:xfrm>
            <a:off x="9946843" y="3813962"/>
            <a:ext cx="1593799" cy="127102"/>
          </a:xfrm>
          <a:prstGeom prst="rect">
            <a:avLst/>
          </a:prstGeom>
          <a:noFill/>
          <a:ln/>
        </p:spPr>
        <p:txBody>
          <a:bodyPr wrap="square" lIns="0" tIns="0" rIns="0" bIns="0" rtlCol="0" anchor="ctr">
            <a:normAutofit/>
          </a:bodyPr>
          <a:lstStyle/>
          <a:p>
            <a:pPr algn="ctr" indent="0" marL="0">
              <a:lnSpc>
                <a:spcPct val="96000"/>
              </a:lnSpc>
              <a:buNone/>
            </a:pPr>
            <a:r>
              <a:rPr lang="en-US" sz="805" b="1" dirty="0">
                <a:solidFill>
                  <a:srgbClr val="FFFFFF"/>
                </a:solidFill>
                <a:latin typeface="Ubuntu" pitchFamily="34" charset="0"/>
                <a:ea typeface="Ubuntu" pitchFamily="34" charset="-122"/>
                <a:cs typeface="Ubuntu" pitchFamily="34" charset="-120"/>
              </a:rPr>
              <a:t>COMPARE MODELED OUTCOMES</a:t>
            </a:r>
            <a:endParaRPr lang="en-US" sz="805" dirty="0"/>
          </a:p>
        </p:txBody>
      </p:sp>
      <p:sp>
        <p:nvSpPr>
          <p:cNvPr id="164" name="Shape 162"/>
          <p:cNvSpPr/>
          <p:nvPr/>
        </p:nvSpPr>
        <p:spPr>
          <a:xfrm>
            <a:off x="9953244" y="3971239"/>
            <a:ext cx="1577340" cy="0"/>
          </a:xfrm>
          <a:prstGeom prst="line">
            <a:avLst/>
          </a:prstGeom>
          <a:noFill/>
          <a:ln w="8255">
            <a:solidFill>
              <a:srgbClr val="69477B"/>
            </a:solidFill>
            <a:prstDash val="solid"/>
            <a:headEnd type="none"/>
          </a:ln>
        </p:spPr>
      </p:sp>
      <p:sp>
        <p:nvSpPr>
          <p:cNvPr id="165" name="Text 163"/>
          <p:cNvSpPr txBox="1"/>
          <p:nvPr/>
        </p:nvSpPr>
        <p:spPr>
          <a:xfrm>
            <a:off x="9994392" y="4022446"/>
            <a:ext cx="1508760" cy="154534"/>
          </a:xfrm>
          <a:prstGeom prst="rect">
            <a:avLst/>
          </a:prstGeom>
          <a:noFill/>
          <a:ln/>
        </p:spPr>
        <p:txBody>
          <a:bodyPr wrap="square" lIns="0" tIns="0" rIns="0" bIns="0" rtlCol="0" anchor="ctr">
            <a:normAutofit/>
          </a:bodyPr>
          <a:lstStyle/>
          <a:p>
            <a:pPr algn="ctr" indent="0" marL="0">
              <a:lnSpc>
                <a:spcPct val="96000"/>
              </a:lnSpc>
              <a:buNone/>
            </a:pPr>
            <a:r>
              <a:rPr lang="en-US" sz="1005" dirty="0">
                <a:solidFill>
                  <a:srgbClr val="FFFFFF"/>
                </a:solidFill>
                <a:latin typeface="Ubuntu" pitchFamily="34" charset="0"/>
                <a:ea typeface="Ubuntu" pitchFamily="34" charset="-122"/>
                <a:cs typeface="Ubuntu" pitchFamily="34" charset="-120"/>
              </a:rPr>
              <a:t>Central estimates</a:t>
            </a:r>
            <a:endParaRPr lang="en-US" sz="1005" dirty="0"/>
          </a:p>
        </p:txBody>
      </p:sp>
      <p:sp>
        <p:nvSpPr>
          <p:cNvPr id="166" name="Shape 164"/>
          <p:cNvSpPr/>
          <p:nvPr/>
        </p:nvSpPr>
        <p:spPr>
          <a:xfrm>
            <a:off x="9953244" y="4270248"/>
            <a:ext cx="1577340" cy="0"/>
          </a:xfrm>
          <a:prstGeom prst="line">
            <a:avLst/>
          </a:prstGeom>
          <a:noFill/>
          <a:ln w="8255">
            <a:solidFill>
              <a:srgbClr val="69477B"/>
            </a:solidFill>
            <a:prstDash val="solid"/>
            <a:headEnd type="none"/>
          </a:ln>
        </p:spPr>
      </p:sp>
      <p:sp>
        <p:nvSpPr>
          <p:cNvPr id="167" name="Text 165"/>
          <p:cNvSpPr txBox="1"/>
          <p:nvPr/>
        </p:nvSpPr>
        <p:spPr>
          <a:xfrm>
            <a:off x="9994392" y="4321454"/>
            <a:ext cx="1508760" cy="154534"/>
          </a:xfrm>
          <a:prstGeom prst="rect">
            <a:avLst/>
          </a:prstGeom>
          <a:noFill/>
          <a:ln/>
        </p:spPr>
        <p:txBody>
          <a:bodyPr wrap="square" lIns="0" tIns="0" rIns="0" bIns="0" rtlCol="0" anchor="ctr">
            <a:normAutofit/>
          </a:bodyPr>
          <a:lstStyle/>
          <a:p>
            <a:pPr algn="ctr" indent="0" marL="0">
              <a:lnSpc>
                <a:spcPct val="96000"/>
              </a:lnSpc>
              <a:buNone/>
            </a:pPr>
            <a:r>
              <a:rPr lang="en-US" sz="1005" dirty="0">
                <a:solidFill>
                  <a:srgbClr val="FFFFFF"/>
                </a:solidFill>
                <a:latin typeface="Ubuntu" pitchFamily="34" charset="0"/>
                <a:ea typeface="Ubuntu" pitchFamily="34" charset="-122"/>
                <a:cs typeface="Ubuntu" pitchFamily="34" charset="-120"/>
              </a:rPr>
              <a:t>Planning ranges</a:t>
            </a:r>
            <a:endParaRPr lang="en-US" sz="1005" dirty="0"/>
          </a:p>
        </p:txBody>
      </p:sp>
      <p:sp>
        <p:nvSpPr>
          <p:cNvPr id="168" name="Shape 166"/>
          <p:cNvSpPr/>
          <p:nvPr/>
        </p:nvSpPr>
        <p:spPr>
          <a:xfrm>
            <a:off x="9953244" y="4569257"/>
            <a:ext cx="1577340" cy="0"/>
          </a:xfrm>
          <a:prstGeom prst="line">
            <a:avLst/>
          </a:prstGeom>
          <a:noFill/>
          <a:ln w="8255">
            <a:solidFill>
              <a:srgbClr val="69477B"/>
            </a:solidFill>
            <a:prstDash val="solid"/>
            <a:headEnd type="none"/>
          </a:ln>
        </p:spPr>
      </p:sp>
      <p:sp>
        <p:nvSpPr>
          <p:cNvPr id="169" name="Text 167"/>
          <p:cNvSpPr txBox="1"/>
          <p:nvPr/>
        </p:nvSpPr>
        <p:spPr>
          <a:xfrm>
            <a:off x="9994392" y="4620463"/>
            <a:ext cx="1508760" cy="154534"/>
          </a:xfrm>
          <a:prstGeom prst="rect">
            <a:avLst/>
          </a:prstGeom>
          <a:noFill/>
          <a:ln/>
        </p:spPr>
        <p:txBody>
          <a:bodyPr wrap="square" lIns="0" tIns="0" rIns="0" bIns="0" rtlCol="0" anchor="ctr">
            <a:normAutofit/>
          </a:bodyPr>
          <a:lstStyle/>
          <a:p>
            <a:pPr algn="ctr" indent="0" marL="0">
              <a:lnSpc>
                <a:spcPct val="96000"/>
              </a:lnSpc>
              <a:buNone/>
            </a:pPr>
            <a:r>
              <a:rPr lang="en-US" sz="1005" dirty="0">
                <a:solidFill>
                  <a:srgbClr val="FFFFFF"/>
                </a:solidFill>
                <a:latin typeface="Ubuntu" pitchFamily="34" charset="0"/>
                <a:ea typeface="Ubuntu" pitchFamily="34" charset="-122"/>
                <a:cs typeface="Ubuntu" pitchFamily="34" charset="-120"/>
              </a:rPr>
              <a:t>Validation gaps</a:t>
            </a:r>
            <a:endParaRPr lang="en-US" sz="1005" dirty="0"/>
          </a:p>
        </p:txBody>
      </p:sp>
      <p:sp>
        <p:nvSpPr>
          <p:cNvPr id="170" name="Shape 168"/>
          <p:cNvSpPr/>
          <p:nvPr/>
        </p:nvSpPr>
        <p:spPr>
          <a:xfrm>
            <a:off x="9768535" y="5053889"/>
            <a:ext cx="1946758" cy="419710"/>
          </a:xfrm>
          <a:prstGeom prst="roundRect">
            <a:avLst>
              <a:gd name="adj" fmla="val 11983"/>
            </a:avLst>
          </a:prstGeom>
          <a:solidFill>
            <a:srgbClr val="FFFFFF"/>
          </a:solidFill>
          <a:ln w="10160">
            <a:solidFill>
              <a:srgbClr val="DDDDE2"/>
            </a:solidFill>
            <a:prstDash val="solid"/>
          </a:ln>
        </p:spPr>
      </p:sp>
      <p:sp>
        <p:nvSpPr>
          <p:cNvPr id="171" name="Text 169"/>
          <p:cNvSpPr txBox="1"/>
          <p:nvPr/>
        </p:nvSpPr>
        <p:spPr>
          <a:xfrm>
            <a:off x="9880092" y="5104181"/>
            <a:ext cx="1724558" cy="132588"/>
          </a:xfrm>
          <a:prstGeom prst="rect">
            <a:avLst/>
          </a:prstGeom>
          <a:noFill/>
          <a:ln/>
        </p:spPr>
        <p:txBody>
          <a:bodyPr wrap="square" lIns="0" tIns="0" rIns="0" bIns="0" rtlCol="0" anchor="ctr">
            <a:normAutofit/>
          </a:bodyPr>
          <a:lstStyle/>
          <a:p>
            <a:pPr algn="ctr" indent="0" marL="0">
              <a:lnSpc>
                <a:spcPct val="96000"/>
              </a:lnSpc>
              <a:buNone/>
            </a:pPr>
            <a:r>
              <a:rPr lang="en-US" sz="1010" b="1" dirty="0">
                <a:solidFill>
                  <a:srgbClr val="2B0A3D"/>
                </a:solidFill>
                <a:latin typeface="Ubuntu" pitchFamily="34" charset="0"/>
                <a:ea typeface="Ubuntu" pitchFamily="34" charset="-122"/>
                <a:cs typeface="Ubuntu" pitchFamily="34" charset="-120"/>
              </a:rPr>
              <a:t>Controls stay visible</a:t>
            </a:r>
            <a:endParaRPr lang="en-US" sz="1010" dirty="0"/>
          </a:p>
        </p:txBody>
      </p:sp>
      <p:sp>
        <p:nvSpPr>
          <p:cNvPr id="172" name="Text 170"/>
          <p:cNvSpPr txBox="1"/>
          <p:nvPr/>
        </p:nvSpPr>
        <p:spPr>
          <a:xfrm>
            <a:off x="9849917" y="5254142"/>
            <a:ext cx="1788566" cy="159106"/>
          </a:xfrm>
          <a:prstGeom prst="rect">
            <a:avLst/>
          </a:prstGeom>
          <a:noFill/>
          <a:ln/>
        </p:spPr>
        <p:txBody>
          <a:bodyPr wrap="square" lIns="0" tIns="0" rIns="0" bIns="0" rtlCol="0" anchor="ctr">
            <a:normAutofit/>
          </a:bodyPr>
          <a:lstStyle/>
          <a:p>
            <a:pPr algn="ctr" indent="0" marL="0">
              <a:lnSpc>
                <a:spcPct val="96000"/>
              </a:lnSpc>
              <a:buNone/>
            </a:pPr>
            <a:r>
              <a:rPr lang="en-US" sz="776" dirty="0">
                <a:solidFill>
                  <a:srgbClr val="34343D"/>
                </a:solidFill>
                <a:latin typeface="Ubuntu" pitchFamily="34" charset="0"/>
                <a:ea typeface="Ubuntu" pitchFamily="34" charset="-122"/>
                <a:cs typeface="Ubuntu" pitchFamily="34" charset="-120"/>
              </a:rPr>
              <a:t>Approvals · permissions · audit</a:t>
            </a:r>
            <a:endParaRPr lang="en-US" sz="776" dirty="0"/>
          </a:p>
          <a:p>
            <a:pPr algn="ctr" indent="0" marL="0">
              <a:lnSpc>
                <a:spcPct val="96000"/>
              </a:lnSpc>
              <a:buNone/>
            </a:pPr>
            <a:r>
              <a:rPr lang="en-US" sz="776" dirty="0">
                <a:solidFill>
                  <a:srgbClr val="34343D"/>
                </a:solidFill>
                <a:latin typeface="Ubuntu" pitchFamily="34" charset="0"/>
                <a:ea typeface="Ubuntu" pitchFamily="34" charset="-122"/>
                <a:cs typeface="Ubuntu" pitchFamily="34" charset="-120"/>
              </a:rPr>
              <a:t>evidence · escalation</a:t>
            </a:r>
            <a:endParaRPr lang="en-US" sz="776" dirty="0"/>
          </a:p>
        </p:txBody>
      </p:sp>
      <p:sp>
        <p:nvSpPr>
          <p:cNvPr id="173" name="Shape 171"/>
          <p:cNvSpPr/>
          <p:nvPr/>
        </p:nvSpPr>
        <p:spPr>
          <a:xfrm>
            <a:off x="483718" y="5579669"/>
            <a:ext cx="9136685" cy="259690"/>
          </a:xfrm>
          <a:prstGeom prst="roundRect">
            <a:avLst>
              <a:gd name="adj" fmla="val 15845"/>
            </a:avLst>
          </a:prstGeom>
          <a:solidFill>
            <a:srgbClr val="F5F5F7"/>
          </a:solidFill>
          <a:ln w="12700">
            <a:solidFill>
              <a:srgbClr val="F5F5F7">
                <a:alpha val="0"/>
              </a:srgbClr>
            </a:solidFill>
            <a:prstDash val="solid"/>
          </a:ln>
        </p:spPr>
      </p:sp>
      <p:sp>
        <p:nvSpPr>
          <p:cNvPr id="174" name="Text 172"/>
          <p:cNvSpPr txBox="1"/>
          <p:nvPr/>
        </p:nvSpPr>
        <p:spPr>
          <a:xfrm>
            <a:off x="632765" y="5634533"/>
            <a:ext cx="1975104" cy="143561"/>
          </a:xfrm>
          <a:prstGeom prst="rect">
            <a:avLst/>
          </a:prstGeom>
          <a:noFill/>
          <a:ln/>
        </p:spPr>
        <p:txBody>
          <a:bodyPr wrap="square" lIns="0" tIns="0" rIns="0" bIns="0" rtlCol="0" anchor="ctr">
            <a:normAutofit/>
          </a:bodyPr>
          <a:lstStyle/>
          <a:p>
            <a:pPr algn="l" indent="0" marL="0">
              <a:lnSpc>
                <a:spcPct val="96000"/>
              </a:lnSpc>
              <a:buNone/>
            </a:pPr>
            <a:r>
              <a:rPr lang="en-US" sz="852" dirty="0">
                <a:solidFill>
                  <a:srgbClr val="0070AD"/>
                </a:solidFill>
                <a:latin typeface="Ubuntu" pitchFamily="34" charset="0"/>
                <a:ea typeface="Ubuntu" pitchFamily="34" charset="-122"/>
                <a:cs typeface="Ubuntu" pitchFamily="34" charset="-120"/>
              </a:rPr>
              <a:t>Known evidence  /  validation needs</a:t>
            </a:r>
            <a:endParaRPr lang="en-US" sz="852" dirty="0"/>
          </a:p>
        </p:txBody>
      </p:sp>
      <p:sp>
        <p:nvSpPr>
          <p:cNvPr id="175" name="Text 173"/>
          <p:cNvSpPr txBox="1"/>
          <p:nvPr/>
        </p:nvSpPr>
        <p:spPr>
          <a:xfrm>
            <a:off x="2819095" y="5620817"/>
            <a:ext cx="6689750" cy="157277"/>
          </a:xfrm>
          <a:prstGeom prst="rect">
            <a:avLst/>
          </a:prstGeom>
          <a:noFill/>
          <a:ln/>
        </p:spPr>
        <p:txBody>
          <a:bodyPr wrap="square" lIns="0" tIns="0" rIns="0" bIns="0" rtlCol="0" anchor="ctr">
            <a:normAutofit/>
          </a:bodyPr>
          <a:lstStyle/>
          <a:p>
            <a:pPr algn="ctr" indent="0" marL="0">
              <a:lnSpc>
                <a:spcPct val="96000"/>
              </a:lnSpc>
              <a:buNone/>
            </a:pPr>
            <a:r>
              <a:rPr lang="en-US" sz="1140" b="1" dirty="0">
                <a:solidFill>
                  <a:srgbClr val="2B0A3D"/>
                </a:solidFill>
                <a:latin typeface="Ubuntu" pitchFamily="34" charset="0"/>
                <a:ea typeface="Ubuntu" pitchFamily="34" charset="-122"/>
                <a:cs typeface="Ubuntu" pitchFamily="34" charset="-120"/>
              </a:rPr>
              <a:t>Inspect the model    →    Challenge assumptions    →    Prioritize validation</a:t>
            </a:r>
            <a:endParaRPr lang="en-US" sz="1140" dirty="0"/>
          </a:p>
        </p:txBody>
      </p:sp>
      <p:sp>
        <p:nvSpPr>
          <p:cNvPr id="176" name="Text 174"/>
          <p:cNvSpPr txBox="1"/>
          <p:nvPr/>
        </p:nvSpPr>
        <p:spPr>
          <a:xfrm>
            <a:off x="9776765" y="5580583"/>
            <a:ext cx="1937614" cy="256032"/>
          </a:xfrm>
          <a:prstGeom prst="rect">
            <a:avLst/>
          </a:prstGeom>
          <a:noFill/>
          <a:ln/>
        </p:spPr>
        <p:txBody>
          <a:bodyPr wrap="square" lIns="0" tIns="0" rIns="0" bIns="0" rtlCol="0" anchor="ctr">
            <a:normAutofit/>
          </a:bodyPr>
          <a:lstStyle/>
          <a:p>
            <a:pPr algn="ctr" indent="0" marL="0">
              <a:lnSpc>
                <a:spcPct val="96000"/>
              </a:lnSpc>
              <a:buNone/>
            </a:pPr>
            <a:r>
              <a:rPr lang="en-US" sz="870" dirty="0">
                <a:solidFill>
                  <a:srgbClr val="71717E"/>
                </a:solidFill>
                <a:latin typeface="Ubuntu" pitchFamily="34" charset="0"/>
                <a:ea typeface="Ubuntu" pitchFamily="34" charset="-122"/>
                <a:cs typeface="Ubuntu" pitchFamily="34" charset="-120"/>
              </a:rPr>
              <a:t>Directional estimates,</a:t>
            </a:r>
            <a:endParaRPr lang="en-US" sz="870" dirty="0"/>
          </a:p>
          <a:p>
            <a:pPr algn="ctr" indent="0" marL="0">
              <a:lnSpc>
                <a:spcPct val="96000"/>
              </a:lnSpc>
              <a:buNone/>
            </a:pPr>
            <a:r>
              <a:rPr lang="en-US" sz="870" dirty="0">
                <a:solidFill>
                  <a:srgbClr val="71717E"/>
                </a:solidFill>
                <a:latin typeface="Ubuntu" pitchFamily="34" charset="0"/>
                <a:ea typeface="Ubuntu" pitchFamily="34" charset="-122"/>
                <a:cs typeface="Ubuntu" pitchFamily="34" charset="-120"/>
              </a:rPr>
              <a:t>not guaranteed results</a:t>
            </a:r>
            <a:endParaRPr lang="en-US" sz="870" dirty="0"/>
          </a:p>
        </p:txBody>
      </p:sp>
      <p:sp>
        <p:nvSpPr>
          <p:cNvPr id="177" name="Text 175"/>
          <p:cNvSpPr txBox="1"/>
          <p:nvPr/>
        </p:nvSpPr>
        <p:spPr>
          <a:xfrm>
            <a:off x="1216152" y="5959145"/>
            <a:ext cx="9760306" cy="301752"/>
          </a:xfrm>
          <a:prstGeom prst="rect">
            <a:avLst/>
          </a:prstGeom>
          <a:noFill/>
          <a:ln/>
        </p:spPr>
        <p:txBody>
          <a:bodyPr wrap="square" lIns="0" tIns="0" rIns="0" bIns="0" rtlCol="0" anchor="ctr">
            <a:normAutofit/>
          </a:bodyPr>
          <a:lstStyle/>
          <a:p>
            <a:pPr algn="ctr" indent="0" marL="0">
              <a:lnSpc>
                <a:spcPct val="96000"/>
              </a:lnSpc>
              <a:buNone/>
            </a:pPr>
            <a:r>
              <a:rPr lang="en-US" sz="1840" dirty="0">
                <a:solidFill>
                  <a:srgbClr val="2B0A3D"/>
                </a:solidFill>
                <a:latin typeface="Ubuntu Mono" pitchFamily="34" charset="0"/>
                <a:ea typeface="Ubuntu Mono" pitchFamily="34" charset="-122"/>
                <a:cs typeface="Ubuntu Mono" pitchFamily="34" charset="-120"/>
              </a:rPr>
              <a:t>Which process should we put under the AIxRay?</a:t>
            </a:r>
            <a:endParaRPr lang="en-US" sz="1840" dirty="0"/>
          </a:p>
        </p:txBody>
      </p:sp>
      <p:sp>
        <p:nvSpPr>
          <p:cNvPr id="178" name="Text 176"/>
          <p:cNvSpPr txBox="1"/>
          <p:nvPr/>
        </p:nvSpPr>
        <p:spPr>
          <a:xfrm>
            <a:off x="1532534" y="6344107"/>
            <a:ext cx="9129370" cy="201168"/>
          </a:xfrm>
          <a:prstGeom prst="rect">
            <a:avLst/>
          </a:prstGeom>
          <a:noFill/>
          <a:ln/>
        </p:spPr>
        <p:txBody>
          <a:bodyPr wrap="square" lIns="0" tIns="0" rIns="0" bIns="0" rtlCol="0" anchor="ctr">
            <a:normAutofit/>
          </a:bodyPr>
          <a:lstStyle/>
          <a:p>
            <a:pPr algn="ctr" indent="0" marL="0">
              <a:lnSpc>
                <a:spcPct val="96000"/>
              </a:lnSpc>
              <a:buNone/>
            </a:pPr>
            <a:r>
              <a:rPr lang="en-US" sz="1114" dirty="0">
                <a:solidFill>
                  <a:srgbClr val="34343D"/>
                </a:solidFill>
                <a:latin typeface="Ubuntu Light" pitchFamily="34" charset="0"/>
                <a:ea typeface="Ubuntu Light" pitchFamily="34" charset="-122"/>
                <a:cs typeface="Ubuntu Light" pitchFamily="34" charset="-120"/>
              </a:rPr>
              <a:t>Turn an AI conversation into a concrete process-transformation discussion.</a:t>
            </a:r>
            <a:endParaRPr lang="en-US" sz="1114" dirty="0"/>
          </a:p>
        </p:txBody>
      </p:sp>
      <p:sp>
        <p:nvSpPr>
          <p:cNvPr id="179" name="Shape 177"/>
          <p:cNvSpPr/>
          <p:nvPr/>
        </p:nvSpPr>
        <p:spPr>
          <a:xfrm>
            <a:off x="484632" y="6616598"/>
            <a:ext cx="11230661" cy="0"/>
          </a:xfrm>
          <a:prstGeom prst="line">
            <a:avLst/>
          </a:prstGeom>
          <a:noFill/>
          <a:ln w="8255">
            <a:solidFill>
              <a:srgbClr val="DDDDE2"/>
            </a:solidFill>
            <a:prstDash val="solid"/>
            <a:headEnd type="none"/>
          </a:ln>
        </p:spPr>
      </p:sp>
      <p:sp>
        <p:nvSpPr>
          <p:cNvPr id="180" name="Text 178"/>
          <p:cNvSpPr txBox="1"/>
          <p:nvPr/>
        </p:nvSpPr>
        <p:spPr>
          <a:xfrm>
            <a:off x="484632" y="6669634"/>
            <a:ext cx="6682435" cy="109728"/>
          </a:xfrm>
          <a:prstGeom prst="rect">
            <a:avLst/>
          </a:prstGeom>
          <a:noFill/>
          <a:ln/>
        </p:spPr>
        <p:txBody>
          <a:bodyPr wrap="square" lIns="0" tIns="0" rIns="0" bIns="0" rtlCol="0" anchor="ctr">
            <a:normAutofit/>
          </a:bodyPr>
          <a:lstStyle/>
          <a:p>
            <a:pPr algn="l" indent="0" marL="0">
              <a:lnSpc>
                <a:spcPct val="96000"/>
              </a:lnSpc>
              <a:buNone/>
            </a:pPr>
            <a:r>
              <a:rPr lang="en-US" sz="775" dirty="0">
                <a:solidFill>
                  <a:srgbClr val="71717E"/>
                </a:solidFill>
                <a:latin typeface="Ubuntu" pitchFamily="34" charset="0"/>
                <a:ea typeface="Ubuntu" pitchFamily="34" charset="-122"/>
                <a:cs typeface="Ubuntu" pitchFamily="34" charset="-120"/>
              </a:rPr>
              <a:t>© 2026 Capgemini  |  Sogeti AIx  |  261019XZE4L2SCEB93</a:t>
            </a:r>
            <a:endParaRPr lang="en-US" sz="775" dirty="0"/>
          </a:p>
        </p:txBody>
      </p:sp>
      <p:sp>
        <p:nvSpPr>
          <p:cNvPr id="181" name="Text 179"/>
          <p:cNvSpPr txBox="1"/>
          <p:nvPr/>
        </p:nvSpPr>
        <p:spPr>
          <a:xfrm>
            <a:off x="9381744" y="6664147"/>
            <a:ext cx="2291486" cy="130759"/>
          </a:xfrm>
          <a:prstGeom prst="rect">
            <a:avLst/>
          </a:prstGeom>
          <a:noFill/>
          <a:ln/>
        </p:spPr>
        <p:txBody>
          <a:bodyPr wrap="square" lIns="0" tIns="0" rIns="0" bIns="0" rtlCol="0" anchor="ctr">
            <a:normAutofit/>
          </a:bodyPr>
          <a:lstStyle/>
          <a:p>
            <a:pPr algn="r" indent="0" marL="0">
              <a:lnSpc>
                <a:spcPct val="96000"/>
              </a:lnSpc>
              <a:buNone/>
            </a:pPr>
            <a:r>
              <a:rPr lang="en-US" sz="766" dirty="0">
                <a:solidFill>
                  <a:srgbClr val="71717E"/>
                </a:solidFill>
                <a:latin typeface="Ubuntu" pitchFamily="34" charset="0"/>
                <a:ea typeface="Ubuntu" pitchFamily="34" charset="-122"/>
                <a:cs typeface="Ubuntu" pitchFamily="34" charset="-120"/>
              </a:rPr>
              <a:t>Sogeti  |  Part of the Capgemini Group</a:t>
            </a:r>
            <a:endParaRPr lang="en-US" sz="76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Ubuntu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Ubuntu"/>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Sogeti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AIxRay: See the process. Reimagine the possibilities.</dc:title>
  <dc:subject>AIxRay process exploration</dc:subject>
  <dc:creator>Sogeti | Capgemini Group</dc:creator>
  <cp:lastModifiedBy>Sogeti | Capgemini Group</cp:lastModifiedBy>
  <cp:revision>1</cp:revision>
  <dcterms:created xsi:type="dcterms:W3CDTF">2026-10-19T15:56:23Z</dcterms:created>
  <dcterms:modified xsi:type="dcterms:W3CDTF">2026-10-19T15:56:23Z</dcterms:modified>
</cp:coreProperties>
</file>